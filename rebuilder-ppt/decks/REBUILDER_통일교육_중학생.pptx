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표지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【진행·멘트】표지 상태로 입장. 스크린 옆에 "북한 하면 떠오르는 낱말 3개"를 적을 QR 설문을 띄워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【미디어】[사진] 강사 프로필 사진(선택)</a:t>
            </a:r>
          </a:p>
          <a:p>
            <a:r>
              <a:t>  ▸ 준비: 깔끔한 정면 사진</a:t>
            </a:r>
          </a:p>
          <a:p>
            <a:r>
              <a:t>【진행·멘트】강사 소개는 1분. 오늘은 "내 판단에 근거를 갖는 수업"임을 먼저 약속합니다.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【진행·멘트】세 목표를 읽고, 마지막 파트에서 같은 문장으로 돌아옵니다.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도입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【진행·멘트】6개 대주제의 흐름: 사람 → 분단 → 체제 → 자유 → 통일 → 나. 대주제마다 색이 바뀝니다.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선 너머의 사람 ▸ 중주제 (대주제 전환) 선 너머의 사람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【진행·멘트】이번 파트는 수업의 문을 여는 5분입니다.</a:t>
            </a:r>
          </a:p>
          <a:p>
            <a:r>
              <a:t>【시간】약 6분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선 너머의 사람 ▸ 중주제 1-1 내가 가진 북한 이미지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【진행·멘트】학생의 이미지가 사람·체제·위협·가난 중 어디에 몰려 있는지 파악합니다. 어떤 낱말도 틀렸다고 하지 않습니다.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선 너머의 사람 ▸ 중주제 1-1 내가 가진 북한 이미지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【미디어】[사진] NASA 위성이 촬영한 한반도 야경(남쪽은 밝고 북쪽은 어두움)</a:t>
            </a:r>
          </a:p>
          <a:p>
            <a:r>
              <a:t>  ▸ 준비: NASA Earth Observatory 공개 이미지(퍼블릭 도메인). 출처 표기 필수. 촬영 연도를 캡션에 병기</a:t>
            </a:r>
          </a:p>
          <a:p>
            <a:r>
              <a:t>【진행·멘트】"왜 다를까?"를 학생이 먼저 추측하게 합니다. 바로 체제를 단정하지 않고 오늘 수업 전체가 이 질문의 답이라고 예고합니다.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선 너머의 사람 ▸ 중주제 1-2 사람을 먼저 본다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【진행·멘트】창세기 1:27 한 구절을 언급합니다: 남한 주민과 북한 주민 모두 하나님의 형상으로 지음 받은 사람. 이 인간관이 이후 모든 판단의 출발점입니다.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분단은 어떻게 시작되고 왜 유지되는가 ▸ 중주제 (대주제 전환) 분단은 어떻게 시작되고 왜 유지되는가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【진행·멘트】핵심 구분: 시작(왜 나뉘었나)과 유지(왜 아직도 나뉘어 있나).</a:t>
            </a:r>
          </a:p>
          <a:p>
            <a:r>
              <a:t>【시간】약 12분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분단은 어떻게 시작되고 왜 유지되는가 ▸ 중주제 2-1 시작: 1945~1953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【진행·멘트】인과 연결 질문: 분할 점령이 왜 두 정부로 이어졌을까? 두 정부가 왜 전쟁의 조건이 되었을까?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분단은 어떻게 시작되고 왜 유지되는가 ▸ 중주제 2-1 시작: 1945~1953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【진행·멘트】하나의 원인, 하나의 책임으로 설명하지 않습니다. "외부 요인만 강조하면 우리의 선택이 사라지고, 내부 요인만 강조하면 국제 환경이 사라진다"를 질문으로 던집니다.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분단은 어떻게 시작되고 왜 유지되는가 ▸ 중주제 2-1 시작: 1945~1953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【미디어】[지도] 38선과 군사분계선(MDL) 두 선을 겹쳐 그린 한반도 지도</a:t>
            </a:r>
          </a:p>
          <a:p>
            <a:r>
              <a:t>  ▸ 준비: 선 두 개를 서로 다른 색으로 표시, 서해와 동해 끝에서 두 선이 어긋나는 지점에 화살표. 위키미디어 공용 지도 + 직접 그리기</a:t>
            </a:r>
          </a:p>
          <a:p>
            <a:r>
              <a:t>【진행·멘트】정전선은 전쟁 중 전선에 가깝게 그어졌기 때문에 38선과 다릅니다. 지도를 보며 학생이 먼저 차이를 찾게 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분단은 어떻게 시작되고 왜 유지되는가 ▸ 중주제 2-2 유지: 구조와 이해관계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【진행·멘트】분단이 "정전 이후 저절로 유지된다"는 오해를 피합니다. 핵 문제는 안보·평화 대화의 맥락에서 사실만 전달합니다.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분단은 어떻게 시작되고 왜 유지되는가 ▸ 중주제 2-2 유지: 구조와 이해관계</a:t>
            </a:r>
          </a:p>
          <a:p>
            <a:r>
              <a:t>【배경】MAP — 옅은 등고선 지도 질감: 분단·지리·국제정치 장면에서 "한반도" 맥락 유지</a:t>
            </a:r>
          </a:p>
          <a:p>
            <a:r>
              <a:t>【진행·멘트】시작은 역사적 선택의 문제, 유지는 안보·체제·이해관계의 구조 문제라는 구분으로 정리합니다.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한 사람의 하루: 체제의 차이 ▸ 중주제 (대주제 전환) 한 사람의 하루: 체제의 차이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【진행·멘트】이제 "체제"를 용어가 아니라 한 사람의 하루로 봅니다.</a:t>
            </a:r>
          </a:p>
          <a:p>
            <a:r>
              <a:t>【시간】약 10분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한 사람의 하루: 체제의 차이 ▸ 중주제 3-1 여섯 가지 권리 질문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【진행·멘트】"북한은 이렇다"로 끝내지 않고 "이 제도에서 나라면 어떨까?"를 묻습니다. 대한민국의 문제도 숨기지 않습니다(4파트에서 다룸).</a:t>
            </a:r>
          </a:p>
          <a:p>
            <a:r>
              <a:t>【시간】약 4분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한 사람의 하루: 체제의 차이 ▸ 중주제 3-2 같은 나이 두 사람의 하루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【진행·멘트】※ 증언·보고서를 바탕으로 재구성한 대표 사례입니다(특정 개인 아님). 북한 청소년을 불쌍한 존재로만 그리지 않도록 "선택과 생존의 노력"을 함께 언급합니다.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한 사람의 하루: 체제의 차이 ▸ 중주제 3-3 장마당과 주민의 선택</a:t>
            </a:r>
          </a:p>
          <a:p>
            <a:r>
              <a:t>【배경】DUSK — 짙은 남보라: 사람의 삶·인권 등 감정이 실리는 장면. 사진 몰입도 상승</a:t>
            </a:r>
          </a:p>
          <a:p>
            <a:r>
              <a:t>【미디어】[사진] 북한 장마당(시장) 풍경 — 사람 중심의 거리 구도</a:t>
            </a:r>
          </a:p>
          <a:p>
            <a:r>
              <a:t>  ▸ 준비: 통일부 북한정보포털 공개 자료 또는 공공누리 확인된 이미지. 개인 얼굴 클로즈업 지양</a:t>
            </a:r>
          </a:p>
          <a:p>
            <a:r>
              <a:t>【진행·멘트】공식 제도(계획·배급)와 실제 생존(시장)의 차이를 구분합니다. 주민을 체제에 끌려가는 존재로만 보지 않는 것이 핵심입니다.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자유는 책임이다 ▸ 중주제 (대주제 전환) 자유는 책임이다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【진행·멘트】우열 비교로 끝내지 않고 자유를 학생 자신에게 되돌리는 파트입니다.</a:t>
            </a:r>
          </a:p>
          <a:p>
            <a:r>
              <a:t>【시간】약 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자유는 책임이다 ▸ 중주제 4-1 자기교정이 되는 체제</a:t>
            </a:r>
          </a:p>
          <a:p>
            <a:r>
              <a:t>【배경】PAPER — 종이 질감 단색: 인용·성찰·긴 문장. 책 읽는 호흡</a:t>
            </a:r>
          </a:p>
          <a:p>
            <a:r>
              <a:t>【미디어】[사진] 투표소에서 투표하는 시민 / 국회 앞 시민 참여 장면</a:t>
            </a:r>
          </a:p>
          <a:p>
            <a:r>
              <a:t>  ▸ 준비: 공공누리 선거관리위원회 이미지. 특정 정당·인물이 드러나지 않는 장면</a:t>
            </a:r>
          </a:p>
          <a:p>
            <a:r>
              <a:t>【진행·멘트】미화 금지: 대한민국의 한계를 숨기지 않으면서 자기교정 가능성이라는 특징을 설명합니다.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자유는 책임이다 ▸ 중주제 4-2 자유 → 책임 → 소명</a:t>
            </a:r>
          </a:p>
          <a:p>
            <a:r>
              <a:t>【배경】PAPER — 종이 질감 단색: 인용·성찰·긴 문장. 책 읽는 호흡</a:t>
            </a:r>
          </a:p>
          <a:p>
            <a:r>
              <a:t>【진행·멘트】하나님의 형상 관점: 사람을 생각하고 선택하고 책임지는 존재로 지으셨다면 어떤 권력도 양심과 믿음을 완전히 소유할 권리가 없습니다. 동시에 자유는 방종이 아닙니다.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자유는 책임이다 ▸ 중주제 4-2 자유 → 책임 → 소명</a:t>
            </a:r>
          </a:p>
          <a:p>
            <a:r>
              <a:t>【배경】PAPER — 종이 질감 단색: 인용·성찰·긴 문장. 책 읽는 호흡</a:t>
            </a:r>
          </a:p>
          <a:p>
            <a:r>
              <a:t>【진행·멘트】여기서 10초 침묵합니다. 답을 요구하지 않습니다.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통일의 기회와 부담 ▸ 중주제 (대주제 전환) 통일의 기회와 부담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【진행·멘트】통일을 찬성/반대로 가르지 않고 근거로 판단하는 파트입니다.</a:t>
            </a:r>
          </a:p>
          <a:p>
            <a:r>
              <a:t>【시간】약 7분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통일의 기회와 부담 ▸ 중주제 5-1 기회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【진행·멘트】수치는 최신 공식 통계(통일부·통계청)로 교체해 인용합니다. 기회는 확정된 미래가 아니라 조건부 가능성입니다.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통일의 기회와 부담 ▸ 중주제 5-2 부담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【진행·멘트】낙관도 두려움도 키우지 않습니다. "우리에게 무엇이 생기는가"보다 "우리가 어떤 통일을 책임질 수 있는가"가 더 중요한 질문입니다.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통일의 기회와 부담 ▸ 중주제 5-3 근거 있는 판단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【미디어】[활동] 판단 문장 활동지(조건·근거·반론 3칸)</a:t>
            </a:r>
          </a:p>
          <a:p>
            <a:r>
              <a:t>  ▸ 준비: A4 한 장. 모둠 공유 후 한 문장만 발표. 찬반 입장 강요 금지</a:t>
            </a:r>
          </a:p>
          <a:p>
            <a:r>
              <a:t>【진행·멘트】정답이 아니라 자신의 판단에 근거를 갖는 것이 평가 기준입니다.</a:t>
            </a:r>
          </a:p>
          <a:p>
            <a:r>
              <a:t>【시간】약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준비된 사람 ▸ 중주제 (대주제 전환) 준비된 사람</a:t>
            </a:r>
          </a:p>
          <a:p>
            <a:r>
              <a:t>【배경】CLEAN — 밝은 모눈 바탕: 개념·비교·정보 중심. 시각 소음 최소</a:t>
            </a:r>
          </a:p>
          <a:p>
            <a:r>
              <a:t>【진행·멘트】마지막 파트: 지식에서 소명으로.</a:t>
            </a:r>
          </a:p>
          <a:p>
            <a:r>
              <a:t>【시간】약 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준비된 사람 ▸ 중주제 6-1 통일과 구원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【진행·멘트】신학적 경계를 분명히 말합니다. 통일을 신성화하지 않으면서도 역사적 책임으로 위치시킵니다.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준비된 사람 ▸ 중주제 6-2 나의 길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【진행·멘트】학생의 꿈을 한반도 회복의 말로 번역합니다. 자신의 은사와 연결해 한 줄을 쓰게 하면 좋습니다.</a:t>
            </a:r>
          </a:p>
          <a:p>
            <a:r>
              <a:t>【시간】약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준비된 사람 ▸ 중주제 6-2 나의 길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【진행·멘트】함께 낭독합니다.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【위치】대주제 - ▸ 중주제 마무리</a:t>
            </a:r>
          </a:p>
          <a:p>
            <a:r>
              <a:t>【배경】DAWN — 남색→새벽빛 그라데이션: 소명·미래·결단. 마지막 파트 전용</a:t>
            </a:r>
          </a:p>
          <a:p>
            <a:r>
              <a:t>【진행·멘트】활동지는 담임교사와 공유합니다.</a:t>
            </a:r>
          </a:p>
          <a:p>
            <a:r>
              <a:t>【시간】약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371600"/>
            <a:ext cx="7498079" cy="4206240"/>
          </a:xfrm>
          <a:prstGeom prst="roundRect">
            <a:avLst>
              <a:gd name="adj" fmla="val 6521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1691640"/>
            <a:ext cx="2651760" cy="457200"/>
          </a:xfrm>
          <a:prstGeom prst="roundRect">
            <a:avLst>
              <a:gd name="adj" fmla="val 4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REBUILDER 통일교육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6949440" cy="2103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B2430"/>
                </a:solidFill>
                <a:latin typeface="Malgun Gothic"/>
                <a:ea typeface="Malgun Gothic"/>
              </a:rPr>
              <a:t>나뉜 땅, 갈린 삶,
우리가 </a:t>
            </a:r>
            <a:r>
              <a:rPr sz="4000" b="1">
                <a:solidFill>
                  <a:srgbClr val="1F6F8B"/>
                </a:solidFill>
                <a:latin typeface="Malgun Gothic"/>
                <a:ea typeface="Malgun Gothic"/>
              </a:rPr>
              <a:t>준비할 미래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F5B69"/>
                </a:solidFill>
                <a:latin typeface="Malgun Gothic"/>
                <a:ea typeface="Malgun Gothic"/>
              </a:rPr>
              <a:t>분단·체제·인권의 구조를 이해하고 스스로 판단하기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743200" cy="4206240"/>
          </a:xfrm>
          <a:prstGeom prst="roundRect">
            <a:avLst>
              <a:gd name="adj" fmla="val 1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691640"/>
            <a:ext cx="2743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중학생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468880"/>
            <a:ext cx="2560320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중학생 1회 특강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45~50분</a:t>
            </a:r>
          </a:p>
          <a:p>
            <a:pPr algn="ctr">
              <a:lnSpc>
                <a:spcPct val="112000"/>
              </a:lnSpc>
              <a:spcAft>
                <a:spcPts val="800"/>
              </a:spcAft>
            </a:pPr>
          </a:p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정답을 외우지 않고
근거를 세우는 수업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4F5B69"/>
                </a:solidFill>
                <a:latin typeface="Malgun Gothic"/>
                <a:ea typeface="Malgun Gothic"/>
              </a:rPr>
              <a:t>제안: SEE-IT  |  자유와 사람을 위한 통일 — 구속사적 관점으로 배우는 한반도와 우리의 사명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강사 소개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32720" cy="4297680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0" y="173736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8120" y="1874519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74519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304288"/>
            <a:ext cx="2743200" cy="28346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4B5560"/>
                </a:solidFill>
                <a:latin typeface="Malgun Gothic"/>
                <a:ea typeface="Malgun Gothic"/>
              </a:rPr>
              <a:t>강사 프로필 사진(선택)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6126480" cy="374903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200" b="1">
                <a:solidFill>
                  <a:srgbClr val="1F6F8B"/>
                </a:solidFill>
                <a:latin typeface="Malgun Gothic"/>
                <a:ea typeface="Malgun Gothic"/>
              </a:rPr>
              <a:t>이름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 : [강사 이름]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200" b="1">
                <a:solidFill>
                  <a:srgbClr val="1F6F8B"/>
                </a:solidFill>
                <a:latin typeface="Malgun Gothic"/>
                <a:ea typeface="Malgun Gothic"/>
              </a:rPr>
              <a:t>소속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 : SEE-IT · REBUILDER 통일교육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200" b="1">
                <a:solidFill>
                  <a:srgbClr val="1F6F8B"/>
                </a:solidFill>
                <a:latin typeface="Malgun Gothic"/>
                <a:ea typeface="Malgun Gothic"/>
              </a:rPr>
              <a:t>주제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 : 분단 · 체제 · 인권 · 통일 이후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200" b="1">
                <a:solidFill>
                  <a:srgbClr val="1F6F8B"/>
                </a:solidFill>
                <a:latin typeface="Malgun Gothic"/>
                <a:ea typeface="Malgun Gothic"/>
              </a:rPr>
              <a:t>오늘 규칙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 : 정답이 아니라 </a:t>
            </a:r>
            <a:r>
              <a:rPr sz="2200" b="1">
                <a:solidFill>
                  <a:srgbClr val="1F6F8B"/>
                </a:solidFill>
                <a:latin typeface="Malgun Gothic"/>
                <a:ea typeface="Malgun Gothic"/>
              </a:rPr>
              <a:t>근거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를 말한다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이번 시간에는?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601200" cy="1371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B2430"/>
                </a:solidFill>
                <a:latin typeface="Malgun Gothic"/>
                <a:ea typeface="Malgun Gothic"/>
              </a:rPr>
              <a:t>분단·체제·통일을 </a:t>
            </a:r>
            <a:r>
              <a:rPr sz="2500" b="1">
                <a:solidFill>
                  <a:srgbClr val="1F6F8B"/>
                </a:solidFill>
                <a:latin typeface="Malgun Gothic"/>
                <a:ea typeface="Malgun Gothic"/>
              </a:rPr>
              <a:t>구조</a:t>
            </a:r>
            <a:r>
              <a:rPr sz="2500" b="1">
                <a:solidFill>
                  <a:srgbClr val="1B2430"/>
                </a:solidFill>
                <a:latin typeface="Malgun Gothic"/>
                <a:ea typeface="Malgun Gothic"/>
              </a:rPr>
              <a:t>로 이해하고 </a:t>
            </a:r>
            <a:r>
              <a:rPr sz="2500" b="1">
                <a:solidFill>
                  <a:srgbClr val="1F6F8B"/>
                </a:solidFill>
                <a:latin typeface="Malgun Gothic"/>
                <a:ea typeface="Malgun Gothic"/>
              </a:rPr>
              <a:t>근거로 판단</a:t>
            </a:r>
            <a:r>
              <a:rPr sz="2500" b="1">
                <a:solidFill>
                  <a:srgbClr val="1B2430"/>
                </a:solidFill>
                <a:latin typeface="Malgun Gothic"/>
                <a:ea typeface="Malgun Gothic"/>
              </a:rPr>
              <a:t>한다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090672"/>
            <a:ext cx="548640" cy="54864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09067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01752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Malgun Gothic"/>
                <a:ea typeface="Malgun Gothic"/>
              </a:rPr>
              <a:t>분단이 시작된 이유와 지금까지 유지되는 이유를 구분해 설명한다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959352"/>
            <a:ext cx="548640" cy="54864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593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886200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Malgun Gothic"/>
                <a:ea typeface="Malgun Gothic"/>
              </a:rPr>
              <a:t>제도 차이가 한 사람의 하루를 어떻게 바꾸는지 설명한다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828031"/>
            <a:ext cx="548640" cy="548640"/>
          </a:xfrm>
          <a:prstGeom prst="ellipse">
            <a:avLst/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28031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754879"/>
            <a:ext cx="87782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B2430"/>
                </a:solidFill>
                <a:latin typeface="Malgun Gothic"/>
                <a:ea typeface="Malgun Gothic"/>
              </a:rPr>
              <a:t>통일의 기회와 부담을 함께 보고 근거 있는 판단을 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목차 — 오늘의 대주제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561320" cy="5166359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777240" cy="705612"/>
          </a:xfrm>
          <a:prstGeom prst="roundRect">
            <a:avLst>
              <a:gd name="adj" fmla="val 20734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777240" cy="7056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325880"/>
            <a:ext cx="548640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Malgun Gothic"/>
                <a:ea typeface="Malgun Gothic"/>
              </a:rPr>
              <a:t>선 너머의 사람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246888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1-1 ·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325880"/>
            <a:ext cx="118872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6F8B"/>
                </a:solidFill>
                <a:latin typeface="Malgun Gothic"/>
                <a:ea typeface="Malgun Gothic"/>
              </a:rPr>
              <a:t>6분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186940"/>
            <a:ext cx="777240" cy="705612"/>
          </a:xfrm>
          <a:prstGeom prst="roundRect">
            <a:avLst>
              <a:gd name="adj" fmla="val 20734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86940"/>
            <a:ext cx="777240" cy="7056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41220"/>
            <a:ext cx="548640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Malgun Gothic"/>
                <a:ea typeface="Malgun Gothic"/>
              </a:rPr>
              <a:t>분단은 어떻게 시작되고 왜 유지되는가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141220"/>
            <a:ext cx="246888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2-1 · 2-2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141220"/>
            <a:ext cx="118872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7A4EAB"/>
                </a:solidFill>
                <a:latin typeface="Malgun Gothic"/>
                <a:ea typeface="Malgun Gothic"/>
              </a:rPr>
              <a:t>12분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002280"/>
            <a:ext cx="777240" cy="705612"/>
          </a:xfrm>
          <a:prstGeom prst="roundRect">
            <a:avLst>
              <a:gd name="adj" fmla="val 20734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02280"/>
            <a:ext cx="777240" cy="7056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956560"/>
            <a:ext cx="548640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Malgun Gothic"/>
                <a:ea typeface="Malgun Gothic"/>
              </a:rPr>
              <a:t>한 사람의 하루: 체제의 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956560"/>
            <a:ext cx="246888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3-1 · 3-2 · 3-3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956560"/>
            <a:ext cx="118872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B5541A"/>
                </a:solidFill>
                <a:latin typeface="Malgun Gothic"/>
                <a:ea typeface="Malgun Gothic"/>
              </a:rPr>
              <a:t>10분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17620"/>
            <a:ext cx="777240" cy="705612"/>
          </a:xfrm>
          <a:prstGeom prst="roundRect">
            <a:avLst>
              <a:gd name="adj" fmla="val 20734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817620"/>
            <a:ext cx="777240" cy="7056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771900"/>
            <a:ext cx="548640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Malgun Gothic"/>
                <a:ea typeface="Malgun Gothic"/>
              </a:rPr>
              <a:t>자유는 책임이다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771900"/>
            <a:ext cx="246888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4-1 · 4-2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771900"/>
            <a:ext cx="118872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2E7D5B"/>
                </a:solidFill>
                <a:latin typeface="Malgun Gothic"/>
                <a:ea typeface="Malgun Gothic"/>
              </a:rPr>
              <a:t>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632960"/>
            <a:ext cx="777240" cy="705612"/>
          </a:xfrm>
          <a:prstGeom prst="roundRect">
            <a:avLst>
              <a:gd name="adj" fmla="val 20734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632960"/>
            <a:ext cx="777240" cy="7056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587240"/>
            <a:ext cx="548640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Malgun Gothic"/>
                <a:ea typeface="Malgun Gothic"/>
              </a:rPr>
              <a:t>통일의 기회와 부담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87240"/>
            <a:ext cx="246888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5-1 · 5-2 · 5-3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587240"/>
            <a:ext cx="118872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B03A48"/>
                </a:solidFill>
                <a:latin typeface="Malgun Gothic"/>
                <a:ea typeface="Malgun Gothic"/>
              </a:rPr>
              <a:t>7분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448300"/>
            <a:ext cx="777240" cy="705612"/>
          </a:xfrm>
          <a:prstGeom prst="roundRect">
            <a:avLst>
              <a:gd name="adj" fmla="val 20734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48300"/>
            <a:ext cx="777240" cy="70561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402580"/>
            <a:ext cx="548640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B2430"/>
                </a:solidFill>
                <a:latin typeface="Malgun Gothic"/>
                <a:ea typeface="Malgun Gothic"/>
              </a:rPr>
              <a:t>준비된 사람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402580"/>
            <a:ext cx="246888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773"/>
                </a:solidFill>
                <a:latin typeface="Malgun Gothic"/>
                <a:ea typeface="Malgun Gothic"/>
              </a:rPr>
              <a:t>6-1 · 6-2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402580"/>
            <a:ext cx="1188720" cy="77876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D5A99"/>
                </a:solidFill>
                <a:latin typeface="Malgun Gothic"/>
                <a:ea typeface="Malgun Gothic"/>
              </a:rPr>
              <a:t>5분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1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선 너머의 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북한을 떠올릴 때, 나는 무엇을 가장 먼저 보는가?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1F6F8B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내가 가진 북한 이미지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사람을 먼저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6분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선 너머의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6F8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489960" cy="402336"/>
          </a:xfrm>
          <a:prstGeom prst="roundRect">
            <a:avLst>
              <a:gd name="adj" fmla="val 45454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62127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내가 가진 북한 이미지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북한 하면 떠오르는 낱말 3개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 w="19050">
            <a:solidFill>
              <a:srgbClr val="1F6F8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2770632"/>
            <a:ext cx="1920240" cy="457200"/>
          </a:xfrm>
          <a:prstGeom prst="roundRect">
            <a:avLst>
              <a:gd name="adj" fmla="val 40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770632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실시간 설문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북한 하면 떠오르는 낱말 </a:t>
            </a:r>
            <a:r>
              <a:rPr sz="3200" b="1">
                <a:solidFill>
                  <a:srgbClr val="FFD479"/>
                </a:solidFill>
                <a:latin typeface="Malgun Gothic"/>
                <a:ea typeface="Malgun Gothic"/>
              </a:rPr>
              <a:t>3개</a:t>
            </a: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를 적어 봅시다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C8C6EA"/>
                </a:solidFill>
                <a:latin typeface="Malgun Gothic"/>
                <a:ea typeface="Malgun Gothic"/>
              </a:rPr>
              <a:t>QR 접속 → 단어구름 생성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C8C6EA"/>
                </a:solidFill>
                <a:latin typeface="Malgun Gothic"/>
                <a:ea typeface="Malgun Gothic"/>
              </a:rPr>
              <a:t>가장 큰 단어부터 이유를 물어봐요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선 너머의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6F8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489960" cy="402336"/>
          </a:xfrm>
          <a:prstGeom prst="roundRect">
            <a:avLst>
              <a:gd name="adj" fmla="val 45454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62127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내가 가진 북한 이미지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한반도의 밤: 선 위와 아래는 왜 다를까?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8C6EA"/>
                </a:solidFill>
                <a:latin typeface="Malgun Gothic"/>
                <a:ea typeface="Malgun Gothic"/>
              </a:rPr>
              <a:t>NASA 위성이 촬영한 한반도 야경(남쪽은 밝고 북쪽은 어두움)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같은 땅, 같은 밤 — 왜 이렇게 다를까요?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선 너머의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F6F8B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971800" cy="402336"/>
          </a:xfrm>
          <a:prstGeom prst="roundRect">
            <a:avLst>
              <a:gd name="adj" fmla="val 45454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10312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사람을 먼저 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정권은 평가하고, 주민은 이웃으로 만난다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두 가지 오류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북한 정권 비판이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주민 혐오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로 번진다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주민 연민이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체제 비판을 막는다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이 수업의 약속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정권은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평가와 비판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의 대상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주민은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함께 살아갈 사람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, 미래의 공동주체</a:t>
            </a:r>
          </a:p>
        </p:txBody>
      </p:sp>
      <p:sp>
        <p:nvSpPr>
          <p:cNvPr id="34" name="Oval 33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2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분단은 어떻게 시작되고 왜 유지되는가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나뉘게 된 이유와 나뉜 채 이어지는 이유는 같은 문제일까?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7A4EAB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시작: 1945~1953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유지: 구조와 이해관계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12분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분단은 어떻게 시작되고 왜 유지되는가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A4E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961640" cy="402336"/>
          </a:xfrm>
          <a:prstGeom prst="roundRect">
            <a:avLst>
              <a:gd name="adj" fmla="val 45454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09295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시작: 1945~1953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분단의 흐름 한 줄로 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776472"/>
            <a:ext cx="10360152" cy="73152"/>
          </a:xfrm>
          <a:prstGeom prst="roundRect">
            <a:avLst>
              <a:gd name="adj" fmla="val 50000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26538" y="3630168"/>
            <a:ext cx="365760" cy="36576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7A4EAB"/>
                </a:solidFill>
                <a:latin typeface="Malgun Gothic"/>
                <a:ea typeface="Malgun Gothic"/>
              </a:rPr>
              <a:t>1945.8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3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B2430"/>
                </a:solidFill>
                <a:latin typeface="Malgun Gothic"/>
                <a:ea typeface="Malgun Gothic"/>
              </a:rPr>
              <a:t>해방 · 38선 분할 점령</a:t>
            </a:r>
          </a:p>
        </p:txBody>
      </p:sp>
      <p:sp>
        <p:nvSpPr>
          <p:cNvPr id="31" name="Oval 30"/>
          <p:cNvSpPr/>
          <p:nvPr/>
        </p:nvSpPr>
        <p:spPr>
          <a:xfrm>
            <a:off x="4616577" y="3630168"/>
            <a:ext cx="365760" cy="36576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1014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7A4EAB"/>
                </a:solidFill>
                <a:latin typeface="Malgun Gothic"/>
                <a:ea typeface="Malgun Gothic"/>
              </a:rPr>
              <a:t>1948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9302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B2430"/>
                </a:solidFill>
                <a:latin typeface="Malgun Gothic"/>
                <a:ea typeface="Malgun Gothic"/>
              </a:rPr>
              <a:t>남북에 각각 정부 수립</a:t>
            </a:r>
          </a:p>
        </p:txBody>
      </p:sp>
      <p:sp>
        <p:nvSpPr>
          <p:cNvPr id="34" name="Oval 33"/>
          <p:cNvSpPr/>
          <p:nvPr/>
        </p:nvSpPr>
        <p:spPr>
          <a:xfrm>
            <a:off x="7206615" y="3630168"/>
            <a:ext cx="365760" cy="36576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1052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7A4EAB"/>
                </a:solidFill>
                <a:latin typeface="Malgun Gothic"/>
                <a:ea typeface="Malgun Gothic"/>
              </a:rPr>
              <a:t>1950.6.25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9340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B2430"/>
                </a:solidFill>
                <a:latin typeface="Malgun Gothic"/>
                <a:ea typeface="Malgun Gothic"/>
              </a:rPr>
              <a:t>6·25 전쟁</a:t>
            </a:r>
          </a:p>
        </p:txBody>
      </p:sp>
      <p:sp>
        <p:nvSpPr>
          <p:cNvPr id="37" name="Oval 36"/>
          <p:cNvSpPr/>
          <p:nvPr/>
        </p:nvSpPr>
        <p:spPr>
          <a:xfrm>
            <a:off x="9796653" y="3630168"/>
            <a:ext cx="365760" cy="36576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21090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7A4EAB"/>
                </a:solidFill>
                <a:latin typeface="Malgun Gothic"/>
                <a:ea typeface="Malgun Gothic"/>
              </a:rPr>
              <a:t>1953.7.27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9378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1B2430"/>
                </a:solidFill>
                <a:latin typeface="Malgun Gothic"/>
                <a:ea typeface="Malgun Gothic"/>
              </a:rPr>
              <a:t>정전협정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4B5560"/>
                </a:solidFill>
                <a:latin typeface="Malgun Gothic"/>
                <a:ea typeface="Malgun Gothic"/>
              </a:rPr>
              <a:t>연도를 외우지 말고 </a:t>
            </a:r>
            <a:r>
              <a:rPr sz="1600" b="1">
                <a:solidFill>
                  <a:srgbClr val="7A4EAB"/>
                </a:solidFill>
                <a:latin typeface="Malgun Gothic"/>
                <a:ea typeface="Malgun Gothic"/>
              </a:rPr>
              <a:t>앞 사건이 뒤 사건을 어떻게 만들었는지</a:t>
            </a:r>
            <a:r>
              <a:rPr sz="1600" b="1">
                <a:solidFill>
                  <a:srgbClr val="4B5560"/>
                </a:solidFill>
                <a:latin typeface="Malgun Gothic"/>
                <a:ea typeface="Malgun Gothic"/>
              </a:rPr>
              <a:t> 말해 보세요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분단은 어떻게 시작되고 왜 유지되는가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A4E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961640" cy="402336"/>
          </a:xfrm>
          <a:prstGeom prst="roundRect">
            <a:avLst>
              <a:gd name="adj" fmla="val 45454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09295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시작: 1945~1953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밖의 요인 + 안의 요인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외부 요인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•  미·소 </a:t>
            </a:r>
            <a:r>
              <a:rPr sz="2200" b="1">
                <a:solidFill>
                  <a:srgbClr val="1F6F8B"/>
                </a:solidFill>
                <a:latin typeface="Malgun Gothic"/>
                <a:ea typeface="Malgun Gothic"/>
              </a:rPr>
              <a:t>분할 점령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과 냉전의 시작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•  강대국의 </a:t>
            </a:r>
            <a:r>
              <a:rPr sz="2200" b="1">
                <a:solidFill>
                  <a:srgbClr val="1F6F8B"/>
                </a:solidFill>
                <a:latin typeface="Malgun Gothic"/>
                <a:ea typeface="Malgun Gothic"/>
              </a:rPr>
              <a:t>신탁통치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 논의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내부 요인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•  어떤 나라를 세울지에 대한 </a:t>
            </a:r>
            <a:r>
              <a:rPr sz="2200" b="1">
                <a:solidFill>
                  <a:srgbClr val="7A4EAB"/>
                </a:solidFill>
                <a:latin typeface="Malgun Gothic"/>
                <a:ea typeface="Malgun Gothic"/>
              </a:rPr>
              <a:t>이념·정치 갈등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•  남북 각각 </a:t>
            </a:r>
            <a:r>
              <a:rPr sz="2200" b="1">
                <a:solidFill>
                  <a:srgbClr val="7A4EAB"/>
                </a:solidFill>
                <a:latin typeface="Malgun Gothic"/>
                <a:ea typeface="Malgun Gothic"/>
              </a:rPr>
              <a:t>정부 수립</a:t>
            </a:r>
            <a:r>
              <a:rPr sz="2200" b="0">
                <a:solidFill>
                  <a:srgbClr val="1B2430"/>
                </a:solidFill>
                <a:latin typeface="Malgun Gothic"/>
                <a:ea typeface="Malgun Gothic"/>
              </a:rPr>
              <a:t> 선택</a:t>
            </a:r>
          </a:p>
        </p:txBody>
      </p:sp>
      <p:sp>
        <p:nvSpPr>
          <p:cNvPr id="34" name="Oval 33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분단은 어떻게 시작되고 왜 유지되는가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A4E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961640" cy="402336"/>
          </a:xfrm>
          <a:prstGeom prst="roundRect">
            <a:avLst>
              <a:gd name="adj" fmla="val 45454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09295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시작: 1945~1953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'38선'과 '휴전선(군사분계선)'은 같은 선일까?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11091672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7A4E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지도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108960"/>
            <a:ext cx="10543032" cy="2514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38선과 군사분계선(MDL) 두 선을 겹쳐 그린 한반도 지도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79592"/>
            <a:ext cx="11091672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1B2430"/>
                </a:solidFill>
                <a:latin typeface="Malgun Gothic"/>
                <a:ea typeface="Malgun Gothic"/>
              </a:rPr>
              <a:t>서쪽은 38선 아래(개성 일대)가 북한, 동쪽은 38선 위(속초·고성 일대)가 남한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분단은 어떻게 시작되고 왜 유지되는가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A4E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489960" cy="402336"/>
          </a:xfrm>
          <a:prstGeom prst="roundRect">
            <a:avLst>
              <a:gd name="adj" fmla="val 45454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62127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유지: 구조와 이해관계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왜 지금까지 유지될까? 네 개의 고리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군사적 대치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정전체제·DMZ 인근의 대규모 병력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8708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핵과 안보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8436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북한의 핵실험 6회(2006~2017)와 미사일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상호 불신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체제 경쟁과 반복된 긴장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8844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주변국 이해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8572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미·중·일·러의 서로 다른 이익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분단은 어떻게 시작되고 왜 유지되는가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7A4EAB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489960" cy="402336"/>
          </a:xfrm>
          <a:prstGeom prst="roundRect">
            <a:avLst>
              <a:gd name="adj" fmla="val 45454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62127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유지: 구조와 이해관계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시작과 유지는 같은 문제일까?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4F5B69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7A4EAB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2770632"/>
            <a:ext cx="1005840" cy="457200"/>
          </a:xfrm>
          <a:prstGeom prst="roundRect">
            <a:avLst>
              <a:gd name="adj" fmla="val 40000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770632"/>
            <a:ext cx="1005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토론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364991"/>
            <a:ext cx="10515600" cy="1600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Malgun Gothic"/>
                <a:ea typeface="Malgun Gothic"/>
              </a:rPr>
              <a:t>분단이 </a:t>
            </a:r>
            <a:r>
              <a:rPr sz="3200" b="1">
                <a:solidFill>
                  <a:srgbClr val="7A4EAB"/>
                </a:solidFill>
                <a:latin typeface="Malgun Gothic"/>
                <a:ea typeface="Malgun Gothic"/>
              </a:rPr>
              <a:t>시작된 이유</a:t>
            </a:r>
            <a:r>
              <a:rPr sz="3200" b="1">
                <a:solidFill>
                  <a:srgbClr val="1B2430"/>
                </a:solidFill>
                <a:latin typeface="Malgun Gothic"/>
                <a:ea typeface="Malgun Gothic"/>
              </a:rPr>
              <a:t>와 </a:t>
            </a:r>
            <a:r>
              <a:rPr sz="3200" b="1">
                <a:solidFill>
                  <a:srgbClr val="7A4EAB"/>
                </a:solidFill>
                <a:latin typeface="Malgun Gothic"/>
                <a:ea typeface="Malgun Gothic"/>
              </a:rPr>
              <a:t>유지되는 이유</a:t>
            </a:r>
            <a:r>
              <a:rPr sz="3200" b="1">
                <a:solidFill>
                  <a:srgbClr val="1B2430"/>
                </a:solidFill>
                <a:latin typeface="Malgun Gothic"/>
                <a:ea typeface="Malgun Gothic"/>
              </a:rPr>
              <a:t>는 같을까요?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02352"/>
            <a:ext cx="10515600" cy="1143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B5560"/>
                </a:solidFill>
                <a:latin typeface="Malgun Gothic"/>
                <a:ea typeface="Malgun Gothic"/>
              </a:rPr>
              <a:t>짝토론 1분 → 두 팀 발표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4B5560"/>
                </a:solidFill>
                <a:latin typeface="Malgun Gothic"/>
                <a:ea typeface="Malgun Gothic"/>
              </a:rPr>
              <a:t>같다면 / 다르다면 근거는?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3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한 사람의 하루: 체제의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같은 나이의 두 사람은 제도 때문에 어떻게 다른 하루를 살까?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B5541A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여섯 가지 권리 질문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같은 나이 두 사람의 하루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장마당과 주민의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10분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한 사람의 하루: 체제의 차이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B5541A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286759" cy="402336"/>
          </a:xfrm>
          <a:prstGeom prst="roundRect">
            <a:avLst>
              <a:gd name="adj" fmla="val 45454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41807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여섯 가지 권리 질문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제도는 한 사람의 하루를 결정한다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16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2542032"/>
          <a:ext cx="11091671" cy="379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18"/>
                <a:gridCol w="3412822"/>
                <a:gridCol w="4834831"/>
              </a:tblGrid>
              <a:tr h="54210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질문</a:t>
                      </a:r>
                    </a:p>
                  </a:txBody>
                  <a:tcPr marL="91440" marR="91440" marT="27432" marB="27432" anchor="ctr">
                    <a:solidFill>
                      <a:srgbClr val="B55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대한민국</a:t>
                      </a:r>
                    </a:p>
                  </a:txBody>
                  <a:tcPr marL="91440" marR="91440" marT="27432" marB="27432" anchor="ctr">
                    <a:solidFill>
                      <a:srgbClr val="B55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북한 현실</a:t>
                      </a:r>
                    </a:p>
                  </a:txBody>
                  <a:tcPr marL="91440" marR="91440" marT="27432" marB="27432" anchor="ctr">
                    <a:solidFill>
                      <a:srgbClr val="B03A48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정부를 비판할 수 있나?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표현의 자유가 보장돼요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지도자·정권 비판은 처벌될 수 있어요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다른 정보를 접할 수 있나?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자유롭게 검색·시청해요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외부 영상·출판물 접촉 시 처벌돼요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이동·거주를 선택할 수 있나?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자유롭게 이동해요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이동·거주에 허가가 필요해요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직업을 선택할 수 있나?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스스로 선택해요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국가 배치가 큰 역할을 해요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재산을 소유할 수 있나?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사유재산이 보호돼요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시장 활동이 있지만 단속·제약이 있어요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신앙과 양심을 지킬 수 있나?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예배의 자유가 있어요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</a:rPr>
                        <a:t>법 조문과 달리 현실에서 억압돼요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한 사람의 하루: 체제의 차이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B5541A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804919" cy="402336"/>
          </a:xfrm>
          <a:prstGeom prst="roundRect">
            <a:avLst>
              <a:gd name="adj" fmla="val 45454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93623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같은 나이 두 사람의 하루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같은 나이, 다른 하루 (재구성 사례)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서울의 열다섯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아침 뉴스를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검색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하고 의견을 말해요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방과 후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선택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: 학원·동아리·교회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주말에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어디든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 갈 수 있어요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북쪽의 열다섯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학교·조직 생활과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사상교육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이 일상이에요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외부 영상 시청은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처벌 위험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이 있어요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부모는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장마당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에서 장사하며 생계를 이어요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U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한 사람의 하루: 체제의 차이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B5541A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378200" cy="402336"/>
          </a:xfrm>
          <a:prstGeom prst="roundRect">
            <a:avLst>
              <a:gd name="adj" fmla="val 45454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50952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장마당과 주민의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주민은 수동적 존재가 아니다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C8C6EA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15163A">
              <a:alpha val="72000"/>
            </a:srgbClr>
          </a:solidFill>
          <a:ln w="19050">
            <a:solidFill>
              <a:srgbClr val="B5541A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1990년대 중반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 경제난 이후 배급이 약해지며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장마당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이 확산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주민은 시장에서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생계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를 꾸리고 가족을 지켜요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국가의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단속과 허용</a:t>
            </a: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이 반복돼요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제한된 조건에서도 사람은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선택하고 살아남아요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14000"/>
            </a:srgbClr>
          </a:solidFill>
          <a:ln w="22225">
            <a:solidFill>
              <a:srgbClr val="FFFFFF">
                <a:alpha val="75000"/>
              </a:srgb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C8C6EA"/>
                </a:solidFill>
                <a:latin typeface="Malgun Gothic"/>
                <a:ea typeface="Malgun Gothic"/>
              </a:rPr>
              <a:t>북한 장마당(시장) 풍경 — 사람 중심의 거리 구도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4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자유는 책임이다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우리가 물려받은 자유를 어디에 사용할 것인가?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2E7D5B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자기교정이 되는 체제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자유 → 책임 → 소명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5분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자유는 책임이다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E7D5B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378200" cy="402336"/>
          </a:xfrm>
          <a:prstGeom prst="roundRect">
            <a:avLst>
              <a:gd name="adj" fmla="val 45454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4-1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50952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자기교정이 되는 체제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27231C"/>
                </a:solidFill>
                <a:latin typeface="Malgun Gothic"/>
                <a:ea typeface="Malgun Gothic"/>
              </a:rPr>
              <a:t>대한민국이 완벽하기 때문이 아니다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679191"/>
            <a:ext cx="6126480" cy="3566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27231C"/>
                </a:solidFill>
                <a:latin typeface="Malgun Gothic"/>
                <a:ea typeface="Malgun Gothic"/>
              </a:rPr>
              <a:t>•  대한민국에도 </a:t>
            </a:r>
            <a:r>
              <a:rPr sz="2200" b="1">
                <a:solidFill>
                  <a:srgbClr val="2E7D5B"/>
                </a:solidFill>
                <a:latin typeface="Malgun Gothic"/>
                <a:ea typeface="Malgun Gothic"/>
              </a:rPr>
              <a:t>불의·갈등·불평등</a:t>
            </a:r>
            <a:r>
              <a:rPr sz="2200" b="0">
                <a:solidFill>
                  <a:srgbClr val="27231C"/>
                </a:solidFill>
                <a:latin typeface="Malgun Gothic"/>
                <a:ea typeface="Malgun Gothic"/>
              </a:rPr>
              <a:t>이 있어요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27231C"/>
                </a:solidFill>
                <a:latin typeface="Malgun Gothic"/>
                <a:ea typeface="Malgun Gothic"/>
              </a:rPr>
              <a:t>•  자유민주주의의 특징은 </a:t>
            </a:r>
            <a:r>
              <a:rPr sz="2200" b="1">
                <a:solidFill>
                  <a:srgbClr val="2E7D5B"/>
                </a:solidFill>
                <a:latin typeface="Malgun Gothic"/>
                <a:ea typeface="Malgun Gothic"/>
              </a:rPr>
              <a:t>문제가 없음</a:t>
            </a:r>
            <a:r>
              <a:rPr sz="2200" b="0">
                <a:solidFill>
                  <a:srgbClr val="27231C"/>
                </a:solidFill>
                <a:latin typeface="Malgun Gothic"/>
                <a:ea typeface="Malgun Gothic"/>
              </a:rPr>
              <a:t>이 아니라 </a:t>
            </a:r>
            <a:r>
              <a:rPr sz="2200" b="1">
                <a:solidFill>
                  <a:srgbClr val="2E7D5B"/>
                </a:solidFill>
                <a:latin typeface="Malgun Gothic"/>
                <a:ea typeface="Malgun Gothic"/>
              </a:rPr>
              <a:t>고칠 수 있음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27231C"/>
                </a:solidFill>
                <a:latin typeface="Malgun Gothic"/>
                <a:ea typeface="Malgun Gothic"/>
              </a:rPr>
              <a:t>•  </a:t>
            </a:r>
            <a:r>
              <a:rPr sz="2200" b="1">
                <a:solidFill>
                  <a:srgbClr val="2E7D5B"/>
                </a:solidFill>
                <a:latin typeface="Malgun Gothic"/>
                <a:ea typeface="Malgun Gothic"/>
              </a:rPr>
              <a:t>선거 · 법 · 언론 · 시민사회</a:t>
            </a:r>
            <a:r>
              <a:rPr sz="2200" b="0">
                <a:solidFill>
                  <a:srgbClr val="27231C"/>
                </a:solidFill>
                <a:latin typeface="Malgun Gothic"/>
                <a:ea typeface="Malgun Gothic"/>
              </a:rPr>
              <a:t>가 잘못을 공개하고 바로잡아요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542032"/>
            <a:ext cx="4434840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2E7D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108960"/>
            <a:ext cx="3886200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투표소에서 투표하는 시민 / 국회 앞 시민 참여 장면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자유는 책임이다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E7D5B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398520" cy="402336"/>
          </a:xfrm>
          <a:prstGeom prst="roundRect">
            <a:avLst>
              <a:gd name="adj" fmla="val 45454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52984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자유 → 책임 → 소명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27231C"/>
                </a:solidFill>
                <a:latin typeface="Malgun Gothic"/>
                <a:ea typeface="Malgun Gothic"/>
              </a:rPr>
              <a:t>자유는 어디로 이어져야 할까?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76472"/>
            <a:ext cx="10360152" cy="7315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26538" y="3630168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5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2E7D5B"/>
                </a:solidFill>
                <a:latin typeface="Malgun Gothic"/>
                <a:ea typeface="Malgun Gothic"/>
              </a:rPr>
              <a:t>자유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7231C"/>
                </a:solidFill>
                <a:latin typeface="Malgun Gothic"/>
                <a:ea typeface="Malgun Gothic"/>
              </a:rPr>
              <a:t>생각하고 선택하는 권리</a:t>
            </a:r>
          </a:p>
        </p:txBody>
      </p:sp>
      <p:sp>
        <p:nvSpPr>
          <p:cNvPr id="30" name="Oval 29"/>
          <p:cNvSpPr/>
          <p:nvPr/>
        </p:nvSpPr>
        <p:spPr>
          <a:xfrm>
            <a:off x="4616577" y="3630168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1014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2E7D5B"/>
                </a:solidFill>
                <a:latin typeface="Malgun Gothic"/>
                <a:ea typeface="Malgun Gothic"/>
              </a:rPr>
              <a:t>책임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9302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7231C"/>
                </a:solidFill>
                <a:latin typeface="Malgun Gothic"/>
                <a:ea typeface="Malgun Gothic"/>
              </a:rPr>
              <a:t>선택의 결과를 감당함</a:t>
            </a:r>
          </a:p>
        </p:txBody>
      </p:sp>
      <p:sp>
        <p:nvSpPr>
          <p:cNvPr id="33" name="Oval 32"/>
          <p:cNvSpPr/>
          <p:nvPr/>
        </p:nvSpPr>
        <p:spPr>
          <a:xfrm>
            <a:off x="7206615" y="3630168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31052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2E7D5B"/>
                </a:solidFill>
                <a:latin typeface="Malgun Gothic"/>
                <a:ea typeface="Malgun Gothic"/>
              </a:rPr>
              <a:t>소명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9340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7231C"/>
                </a:solidFill>
                <a:latin typeface="Malgun Gothic"/>
                <a:ea typeface="Malgun Gothic"/>
              </a:rPr>
              <a:t>나에게 맡겨진 일</a:t>
            </a:r>
          </a:p>
        </p:txBody>
      </p:sp>
      <p:sp>
        <p:nvSpPr>
          <p:cNvPr id="36" name="Oval 35"/>
          <p:cNvSpPr/>
          <p:nvPr/>
        </p:nvSpPr>
        <p:spPr>
          <a:xfrm>
            <a:off x="9796653" y="3630168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1090" y="2862072"/>
            <a:ext cx="2516886" cy="640080"/>
          </a:xfrm>
          <a:prstGeom prst="rect">
            <a:avLst/>
          </a:prstGeom>
          <a:noFill/>
        </p:spPr>
        <p:txBody>
          <a:bodyPr wrap="square" lIns="73152" rIns="73152" tIns="36576" bIns="36576" anchor="b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2E7D5B"/>
                </a:solidFill>
                <a:latin typeface="Malgun Gothic"/>
                <a:ea typeface="Malgun Gothic"/>
              </a:rPr>
              <a:t>섬김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9378" y="4142232"/>
            <a:ext cx="2480310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27231C"/>
                </a:solidFill>
                <a:latin typeface="Malgun Gothic"/>
                <a:ea typeface="Malgun Gothic"/>
              </a:rPr>
              <a:t>이웃을 위한 사용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4B5560"/>
                </a:solidFill>
                <a:latin typeface="Malgun Gothic"/>
                <a:ea typeface="Malgun Gothic"/>
              </a:rPr>
              <a:t>자유는 </a:t>
            </a:r>
            <a:r>
              <a:rPr sz="1600" b="1">
                <a:solidFill>
                  <a:srgbClr val="2E7D5B"/>
                </a:solidFill>
                <a:latin typeface="Malgun Gothic"/>
                <a:ea typeface="Malgun Gothic"/>
              </a:rPr>
              <a:t>하고 싶은 대로</a:t>
            </a:r>
            <a:r>
              <a:rPr sz="1600" b="1">
                <a:solidFill>
                  <a:srgbClr val="4B5560"/>
                </a:solidFill>
                <a:latin typeface="Malgun Gothic"/>
                <a:ea typeface="Malgun Gothic"/>
              </a:rPr>
              <a:t>가 아니라 </a:t>
            </a:r>
            <a:r>
              <a:rPr sz="1600" b="1">
                <a:solidFill>
                  <a:srgbClr val="2E7D5B"/>
                </a:solidFill>
                <a:latin typeface="Malgun Gothic"/>
                <a:ea typeface="Malgun Gothic"/>
              </a:rPr>
              <a:t>책임 있는 선택</a:t>
            </a:r>
            <a:r>
              <a:rPr sz="1600" b="1">
                <a:solidFill>
                  <a:srgbClr val="4B5560"/>
                </a:solidFill>
                <a:latin typeface="Malgun Gothic"/>
                <a:ea typeface="Malgun Gothic"/>
              </a:rPr>
              <a:t>이에요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자유는 책임이다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2E7D5B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3398520" cy="402336"/>
          </a:xfrm>
          <a:prstGeom prst="roundRect">
            <a:avLst>
              <a:gd name="adj" fmla="val 45454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4-2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252984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자유 → 책임 → 소명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27231C"/>
                </a:solidFill>
                <a:latin typeface="Malgun Gothic"/>
                <a:ea typeface="Malgun Gothic"/>
              </a:rPr>
              <a:t>오늘의 질문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6A6354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633472"/>
            <a:ext cx="1828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0" b="1">
                <a:solidFill>
                  <a:srgbClr val="2E7D5B"/>
                </a:solidFill>
                <a:latin typeface="Malgun Gothic"/>
                <a:ea typeface="Malgun Gothic"/>
              </a:rPr>
              <a:t>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044952"/>
            <a:ext cx="9784080" cy="2286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27231C"/>
                </a:solidFill>
                <a:latin typeface="Malgun Gothic"/>
                <a:ea typeface="Malgun Gothic"/>
              </a:rPr>
              <a:t>우리가 </a:t>
            </a:r>
            <a:r>
              <a:rPr sz="3200" b="1">
                <a:solidFill>
                  <a:srgbClr val="2E7D5B"/>
                </a:solidFill>
                <a:latin typeface="Malgun Gothic"/>
                <a:ea typeface="Malgun Gothic"/>
              </a:rPr>
              <a:t>물려받은 자유</a:t>
            </a:r>
            <a:r>
              <a:rPr sz="3200" b="1">
                <a:solidFill>
                  <a:srgbClr val="27231C"/>
                </a:solidFill>
                <a:latin typeface="Malgun Gothic"/>
                <a:ea typeface="Malgun Gothic"/>
              </a:rPr>
              <a:t>를 어디에 사용할 것인가?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68112"/>
            <a:ext cx="97840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4B5560"/>
                </a:solidFill>
                <a:latin typeface="Malgun Gothic"/>
                <a:ea typeface="Malgun Gothic"/>
              </a:rPr>
              <a:t>— 오늘 수업의 핵심 질문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5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통일의 기회와 부담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통일의 이익과 비용을 모두 보고도 나는 어떤 판단을 하는가?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B03A48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기회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부담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977639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977639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근거 있는 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7분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통일의 기회와 부담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B03A48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1732280" cy="402336"/>
          </a:xfrm>
          <a:prstGeom prst="roundRect">
            <a:avLst>
              <a:gd name="adj" fmla="val 45454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5-1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863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통일의 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이산가족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헤어진 가족의 만남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8708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이동과 교류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8436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끊어진 길이 이어져요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경제와 인구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시장·노동력의 확장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8844" y="2542032"/>
            <a:ext cx="2601468" cy="384048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새로운 직업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8572" y="4325112"/>
            <a:ext cx="2382012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DMZ·물류·환경 분야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통일의 기회와 부담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B03A48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1732280" cy="402336"/>
          </a:xfrm>
          <a:prstGeom prst="roundRect">
            <a:avLst>
              <a:gd name="adj" fmla="val 45454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5-2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86360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부담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통일의 부담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누가 얼마나 부담할까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8708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61588" y="2724912"/>
            <a:ext cx="502920" cy="502920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158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8436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경제 격차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8436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소득·산업 수준의 차이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91656" y="2724912"/>
            <a:ext cx="502920" cy="50292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사회 갈등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제도·생활방식의 차이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38844" y="2542032"/>
            <a:ext cx="2601468" cy="310896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21724" y="2724912"/>
            <a:ext cx="502920" cy="50292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172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8572" y="3319272"/>
            <a:ext cx="2382012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1B2430"/>
                </a:solidFill>
                <a:latin typeface="Malgun Gothic"/>
                <a:ea typeface="Malgun Gothic"/>
              </a:rPr>
              <a:t>적응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8572" y="4325112"/>
            <a:ext cx="2382012" cy="1234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4B5560"/>
                </a:solidFill>
                <a:latin typeface="Malgun Gothic"/>
                <a:ea typeface="Malgun Gothic"/>
              </a:rPr>
              <a:t>교육·법·행정·일자리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22580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760720"/>
            <a:ext cx="11091672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함께 산다는 것은 이익만이 아니라 </a:t>
            </a: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책임을 나누는 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통일의 기회와 부담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B03A48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768600" cy="402336"/>
          </a:xfrm>
          <a:prstGeom prst="roundRect">
            <a:avLst>
              <a:gd name="adj" fmla="val 45454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5-3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189991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근거 있는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Malgun Gothic"/>
                <a:ea typeface="Malgun Gothic"/>
              </a:rPr>
              <a:t>나의 판단과 근거 쓰기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5B6773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6492240" cy="384048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9050">
            <a:solidFill>
              <a:srgbClr val="B03A48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2724912"/>
            <a:ext cx="1188720" cy="420624"/>
          </a:xfrm>
          <a:prstGeom prst="roundRect">
            <a:avLst>
              <a:gd name="adj" fmla="val 39130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724912"/>
            <a:ext cx="118872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2724912"/>
            <a:ext cx="2743200" cy="4206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4B5560"/>
                </a:solidFill>
                <a:latin typeface="Malgun Gothic"/>
                <a:ea typeface="Malgun Gothic"/>
              </a:rPr>
              <a:t>⏱ 3분 · 활동지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273552"/>
            <a:ext cx="6035040" cy="2971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B03A48"/>
                </a:solidFill>
                <a:latin typeface="Malgun Gothic"/>
                <a:ea typeface="Malgun Gothic"/>
              </a:rPr>
              <a:t>1.</a:t>
            </a:r>
            <a:r>
              <a:rPr sz="1800" b="0">
                <a:solidFill>
                  <a:srgbClr val="1B2430"/>
                </a:solidFill>
                <a:latin typeface="Malgun Gothic"/>
                <a:ea typeface="Malgun Gothic"/>
              </a:rPr>
              <a:t> "나는 [조건]이 지켜지는 통일이라면 ___ 라고 생각한다"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B03A48"/>
                </a:solidFill>
                <a:latin typeface="Malgun Gothic"/>
                <a:ea typeface="Malgun Gothic"/>
              </a:rPr>
              <a:t>2.</a:t>
            </a:r>
            <a:r>
              <a:rPr sz="1800" b="0">
                <a:solidFill>
                  <a:srgbClr val="1B2430"/>
                </a:solidFill>
                <a:latin typeface="Malgun Gothic"/>
                <a:ea typeface="Malgun Gothic"/>
              </a:rPr>
              <a:t> 근거 </a:t>
            </a:r>
            <a:r>
              <a:rPr sz="1800" b="1">
                <a:solidFill>
                  <a:srgbClr val="B03A48"/>
                </a:solidFill>
                <a:latin typeface="Malgun Gothic"/>
                <a:ea typeface="Malgun Gothic"/>
              </a:rPr>
              <a:t>2개</a:t>
            </a:r>
            <a:r>
              <a:rPr sz="1800" b="0">
                <a:solidFill>
                  <a:srgbClr val="1B2430"/>
                </a:solidFill>
                <a:latin typeface="Malgun Gothic"/>
                <a:ea typeface="Malgun Gothic"/>
              </a:rPr>
              <a:t> 쓰기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B03A48"/>
                </a:solidFill>
                <a:latin typeface="Malgun Gothic"/>
                <a:ea typeface="Malgun Gothic"/>
              </a:rPr>
              <a:t>3.</a:t>
            </a:r>
            <a:r>
              <a:rPr sz="1800" b="0">
                <a:solidFill>
                  <a:srgbClr val="1B2430"/>
                </a:solidFill>
                <a:latin typeface="Malgun Gothic"/>
                <a:ea typeface="Malgun Gothic"/>
              </a:rPr>
              <a:t> 예상되는 </a:t>
            </a:r>
            <a:r>
              <a:rPr sz="1800" b="1">
                <a:solidFill>
                  <a:srgbClr val="B03A48"/>
                </a:solidFill>
                <a:latin typeface="Malgun Gothic"/>
                <a:ea typeface="Malgun Gothic"/>
              </a:rPr>
              <a:t>반론 1개</a:t>
            </a:r>
            <a:r>
              <a:rPr sz="1800" b="0">
                <a:solidFill>
                  <a:srgbClr val="1B2430"/>
                </a:solidFill>
                <a:latin typeface="Malgun Gothic"/>
                <a:ea typeface="Malgun Gothic"/>
              </a:rPr>
              <a:t>과 내 답변 쓰기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542032"/>
            <a:ext cx="4416552" cy="3840480"/>
          </a:xfrm>
          <a:prstGeom prst="roundRect">
            <a:avLst>
              <a:gd name="adj" fmla="val 2857"/>
            </a:avLst>
          </a:prstGeom>
          <a:solidFill>
            <a:srgbClr val="FFFFFF">
              <a:alpha val="55000"/>
            </a:srgbClr>
          </a:solidFill>
          <a:ln w="22225">
            <a:solidFill>
              <a:srgbClr val="B0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60920" y="2679191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2679191"/>
            <a:ext cx="105156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108960"/>
            <a:ext cx="3867912" cy="3108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4B5560"/>
                </a:solidFill>
                <a:latin typeface="Malgun Gothic"/>
                <a:ea typeface="Malgun Gothic"/>
              </a:rPr>
              <a:t>판단 문장 활동지(조건·근거·반론 3칸)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182880"/>
            <a:ext cx="7315200" cy="6583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2000" b="1">
                <a:solidFill>
                  <a:srgbClr val="FFFFFF">
                    <a:alpha val="16000"/>
                  </a:srgbClr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 PART 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943600" cy="2743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준비된 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8521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</a:rPr>
              <a:t>통일이 언제 올지는 모르지만, 그때 나는 어떤 사람이어야 하는가?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4846320" cy="5029200"/>
          </a:xfrm>
          <a:prstGeom prst="roundRect">
            <a:avLst>
              <a:gd name="adj" fmla="val 4716"/>
            </a:avLst>
          </a:prstGeom>
          <a:solidFill>
            <a:srgbClr val="FFFFFF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051560"/>
            <a:ext cx="438912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3D5A99"/>
                </a:solidFill>
                <a:latin typeface="Malgun Gothic"/>
                <a:ea typeface="Malgun Gothic"/>
              </a:rPr>
              <a:t>중주제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78308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8308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9164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통일과 구원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80360"/>
            <a:ext cx="868680" cy="868680"/>
          </a:xfrm>
          <a:prstGeom prst="roundRect">
            <a:avLst>
              <a:gd name="adj" fmla="val 15789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880360"/>
            <a:ext cx="868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6-2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88920"/>
            <a:ext cx="3474720" cy="10515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F2A37"/>
                </a:solidFill>
                <a:latin typeface="Malgun Gothic"/>
                <a:ea typeface="Malgun Gothic"/>
              </a:rPr>
              <a:t>나의 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B6773"/>
                </a:solidFill>
                <a:latin typeface="Malgun Gothic"/>
                <a:ea typeface="Malgun Gothic"/>
              </a:rPr>
              <a:t>⏱ 약 5분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준비된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3D5A99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453640" cy="402336"/>
          </a:xfrm>
          <a:prstGeom prst="roundRect">
            <a:avLst>
              <a:gd name="adj" fmla="val 45454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6-1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1584960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통일과 구원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통일은 구원이 아니다. 그러나 외면할 수도 없다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분명한 경계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통일 ≠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구원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통일한국 ≠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하나님 나라의 완성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1" y="2542032"/>
            <a:ext cx="5349240" cy="3840480"/>
          </a:xfrm>
          <a:prstGeom prst="roundRect">
            <a:avLst>
              <a:gd name="adj" fmla="val 4285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1071" y="2542032"/>
            <a:ext cx="5349240" cy="566928"/>
          </a:xfrm>
          <a:prstGeom prst="roundRect">
            <a:avLst>
              <a:gd name="adj" fmla="val 2258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1" y="2542032"/>
            <a:ext cx="5349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그러나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1" y="3227832"/>
            <a:ext cx="4983479" cy="3063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교회는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역사를 외면하지 않는다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•  사람을 살리고, 자유를 지키고, 깨어진 공동체를 세울 </a:t>
            </a:r>
            <a:r>
              <a:rPr sz="2200" b="1">
                <a:solidFill>
                  <a:srgbClr val="FFD479"/>
                </a:solidFill>
                <a:latin typeface="Malgun Gothic"/>
                <a:ea typeface="Malgun Gothic"/>
              </a:rPr>
              <a:t>준비</a:t>
            </a:r>
          </a:p>
        </p:txBody>
      </p:sp>
      <p:sp>
        <p:nvSpPr>
          <p:cNvPr id="34" name="Oval 33"/>
          <p:cNvSpPr/>
          <p:nvPr/>
        </p:nvSpPr>
        <p:spPr>
          <a:xfrm>
            <a:off x="5824728" y="4187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8" y="4187952"/>
            <a:ext cx="5486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algun Gothic"/>
                <a:ea typeface="Malgun Gothic"/>
              </a:rPr>
              <a:t>그러나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준비된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3D5A99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047240" cy="402336"/>
          </a:xfrm>
          <a:prstGeom prst="roundRect">
            <a:avLst>
              <a:gd name="adj" fmla="val 45454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6-2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117855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나의 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통일이 오면 나는 무엇을 할 수 있을까?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algun Gothic"/>
                <a:ea typeface="Malgun Gothic"/>
              </a:rPr>
              <a:t>의사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F3D9B0"/>
                </a:solidFill>
                <a:latin typeface="Malgun Gothic"/>
                <a:ea typeface="Malgun Gothic"/>
              </a:rPr>
              <a:t>치료와 회복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12694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95574" y="2724912"/>
            <a:ext cx="502920" cy="50292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5574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2422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algun Gothic"/>
                <a:ea typeface="Malgun Gothic"/>
              </a:rPr>
              <a:t>교사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2422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F3D9B0"/>
                </a:solidFill>
                <a:latin typeface="Malgun Gothic"/>
                <a:ea typeface="Malgun Gothic"/>
              </a:rPr>
              <a:t>교육의 재건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6748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59628" y="2724912"/>
            <a:ext cx="502920" cy="502920"/>
          </a:xfrm>
          <a:prstGeom prst="ellipse">
            <a:avLst/>
          </a:prstGeom>
          <a:solidFill>
            <a:srgbClr val="7A4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9628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6476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algun Gothic"/>
                <a:ea typeface="Malgun Gothic"/>
              </a:rPr>
              <a:t>법률가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6476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F3D9B0"/>
                </a:solidFill>
                <a:latin typeface="Malgun Gothic"/>
                <a:ea typeface="Malgun Gothic"/>
              </a:rPr>
              <a:t>공정한 규칙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40803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23683" y="2724912"/>
            <a:ext cx="502920" cy="502920"/>
          </a:xfrm>
          <a:prstGeom prst="ellipse">
            <a:avLst/>
          </a:prstGeom>
          <a:solidFill>
            <a:srgbClr val="B5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3683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0531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algun Gothic"/>
                <a:ea typeface="Malgun Gothic"/>
              </a:rPr>
              <a:t>기업가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0531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F3D9B0"/>
                </a:solidFill>
                <a:latin typeface="Malgun Gothic"/>
                <a:ea typeface="Malgun Gothic"/>
              </a:rPr>
              <a:t>일자리와 시장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4857" y="2542032"/>
            <a:ext cx="2035454" cy="3840480"/>
          </a:xfrm>
          <a:prstGeom prst="roundRect">
            <a:avLst>
              <a:gd name="adj" fmla="val 8086"/>
            </a:avLst>
          </a:prstGeom>
          <a:solidFill>
            <a:srgbClr val="0C1A38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87737" y="2724912"/>
            <a:ext cx="502920" cy="5029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7737" y="2724912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4585" y="3319272"/>
            <a:ext cx="1815998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algun Gothic"/>
                <a:ea typeface="Malgun Gothic"/>
              </a:rPr>
              <a:t>목회자·선교사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4585" y="4325112"/>
            <a:ext cx="1815998" cy="1965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F3D9B0"/>
                </a:solidFill>
                <a:latin typeface="Malgun Gothic"/>
                <a:ea typeface="Malgun Gothic"/>
              </a:rPr>
              <a:t>사람과 공동체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" cy="658368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9728"/>
            <a:ext cx="6583680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대주제 · 준비된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44991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499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2543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2543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6319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26319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20095" y="274320"/>
            <a:ext cx="420624" cy="329184"/>
          </a:xfrm>
          <a:prstGeom prst="roundRect">
            <a:avLst>
              <a:gd name="adj" fmla="val 33333"/>
            </a:avLst>
          </a:prstGeom>
          <a:noFill/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20095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13871" y="274320"/>
            <a:ext cx="420624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3871" y="256032"/>
            <a:ext cx="420624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3D5A99"/>
                </a:solidFill>
                <a:latin typeface="Malgun Gothic"/>
                <a:ea typeface="Malgun Gothic"/>
              </a:rPr>
              <a:t>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097280"/>
            <a:ext cx="2047240" cy="402336"/>
          </a:xfrm>
          <a:prstGeom prst="roundRect">
            <a:avLst>
              <a:gd name="adj" fmla="val 45454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097280"/>
            <a:ext cx="731520" cy="4023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6-2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1170432"/>
            <a:ext cx="1828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1097280"/>
            <a:ext cx="1178559" cy="402336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나의 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572768"/>
            <a:ext cx="1115568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분단은 선택한 현실이 아니다. 그러나…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42032"/>
            <a:ext cx="11091672" cy="3840480"/>
          </a:xfrm>
          <a:prstGeom prst="roundRect">
            <a:avLst>
              <a:gd name="adj" fmla="val 4285"/>
            </a:avLst>
          </a:prstGeom>
          <a:solidFill>
            <a:srgbClr val="0C1A38">
              <a:alpha val="66000"/>
            </a:srgbClr>
          </a:solidFill>
          <a:ln w="19050">
            <a:solidFill>
              <a:srgbClr val="3D5A99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2633472"/>
            <a:ext cx="1828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0" b="1">
                <a:solidFill>
                  <a:srgbClr val="3D5A99"/>
                </a:solidFill>
                <a:latin typeface="Malgun Gothic"/>
                <a:ea typeface="Malgun Gothic"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044952"/>
            <a:ext cx="9784080" cy="22860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분단은 우리가 선택해서 받은 현실이 아닙니다.
그러나 그 현실 속에서 </a:t>
            </a:r>
            <a:r>
              <a:rPr sz="3200" b="1">
                <a:solidFill>
                  <a:srgbClr val="FFD479"/>
                </a:solidFill>
                <a:latin typeface="Malgun Gothic"/>
                <a:ea typeface="Malgun Gothic"/>
              </a:rPr>
              <a:t>어떤 사람이 될지</a:t>
            </a: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는 선택할 수 있습니다.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463040"/>
            <a:ext cx="9418320" cy="3657600"/>
          </a:xfrm>
          <a:prstGeom prst="roundRect">
            <a:avLst>
              <a:gd name="adj" fmla="val 8750"/>
            </a:avLst>
          </a:prstGeom>
          <a:solidFill>
            <a:srgbClr val="0B1426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8869680" cy="1737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800" b="1">
                <a:solidFill>
                  <a:srgbClr val="FFD479"/>
                </a:solidFill>
                <a:latin typeface="Malgun Gothic"/>
                <a:ea typeface="Malgun Gothic"/>
              </a:rPr>
              <a:t>준비된 사람</a:t>
            </a:r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이 됩시다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566160"/>
            <a:ext cx="886968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3D9B0"/>
                </a:solidFill>
                <a:latin typeface="Malgun Gothic"/>
                <a:ea typeface="Malgun Gothic"/>
              </a:rPr>
              <a:t>통일이 언제 올지는 우리가 결정할 수 없지만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F3D9B0"/>
                </a:solidFill>
                <a:latin typeface="Malgun Gothic"/>
                <a:ea typeface="Malgun Gothic"/>
              </a:rPr>
              <a:t>그때 준비된 사람이 될지는 오늘 결정할 수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REBUILDER 통일교육  ·  중학생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3D9B0"/>
                </a:solidFill>
                <a:latin typeface="Malgun Gothic"/>
                <a:ea typeface="Malgun Gothic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