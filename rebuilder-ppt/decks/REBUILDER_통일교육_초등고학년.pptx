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표지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【진행·멘트】표지를 띄워 두고 입장하는 학생들에게 "북한 하면 떠오르는 낱말"을 쪽지에 쓰게 합니다(1-1에서 활용).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【배경】BOARD — 칠판+나무 책상: 교실 문법(질문·활동·소개)에 즉시 몰입. 흰 글씨 큰 판서</a:t>
            </a:r>
          </a:p>
          <a:p>
            <a:r>
              <a:t>【미디어】[사진] 강사 프로필 사진(선택)</a:t>
            </a:r>
          </a:p>
          <a:p>
            <a:r>
              <a:t>  ▸ 준비: 밝은 정면 사진 1장, 원형 크롭</a:t>
            </a:r>
          </a:p>
          <a:p>
            <a:r>
              <a:t>【진행·멘트】강사 소개는 1분 이내. "오늘은 정답을 외우는 수업이 아니라 이유를 말하는 수업"이라는 규칙을 먼저 세웁니다.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【배경】BOARD — 칠판+나무 책상: 교실 문법(질문·활동·소개)에 즉시 몰입. 흰 글씨 큰 판서</a:t>
            </a:r>
          </a:p>
          <a:p>
            <a:r>
              <a:t>【진행·멘트】세 목표를 칠판 판서처럼 소개하고, 마지막에 같은 문장으로 돌아옵니다.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【진행·멘트】5개 대주제와 시간 배분을 보여 줍니다. "파트마다 색이 바뀝니다"를 미리 안내해 학생이 구조를 따라오게 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지도와 우리의 생각 ▸ 중주제 (대주제 전환) 지도와 우리의 생각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【진행·멘트】색이 바뀌면 새로운 대주제입니다. 이번 파트는 수업 문을 여는 6분입니다.</a:t>
            </a:r>
          </a:p>
          <a:p>
            <a:r>
              <a:t>【시간】약 6분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지도와 우리의 생각 ▸ 중주제 1-1 내가 아는 북한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【미디어】[활동] 학생이 붙인 낱말로 만드는 단어구름</a:t>
            </a:r>
          </a:p>
          <a:p>
            <a:r>
              <a:t>  ▸ 준비: Mentimeter·Slido 실시간 단어구름 또는 칠판 포스트잇 사진. 부정 낱말이 많더라도 판단하지 않고 기록</a:t>
            </a:r>
          </a:p>
          <a:p>
            <a:r>
              <a:t>【진행·멘트】학생이 이미 가진 이미지를 드러내는 단계입니다. 평가하지 말고 "왜 그렇게 생각했어요?"만 묻습니다.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지도와 우리의 생각 ▸ 중주제 1-1 내가 아는 북한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【미디어】[지도] 한반도 전도(국경·바다·주요 도시만)</a:t>
            </a:r>
          </a:p>
          <a:p>
            <a:r>
              <a:t>  ▸ 준비: 위키미디어 공용 CC0 한반도 지도. 군사분계선·DMZ는 아직 표시하지 않음(2-3에서 공개). 퀴즈형으로 점 클릭 애니메이션</a:t>
            </a:r>
          </a:p>
          <a:p>
            <a:r>
              <a:t>【진행·멘트】정답을 빠르게 알려 주지 않고 "왜 그렇게 생각했나요?"를 묻습니다.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지도와 우리의 생각 ▸ 중주제 1-2 선 너머의 사람</a:t>
            </a:r>
          </a:p>
          <a:p>
            <a:r>
              <a:t>【배경】PAPER — 종이 질감 단색: 인용·성찰·긴 문장. 책 읽는 호흡</a:t>
            </a:r>
          </a:p>
          <a:p>
            <a:r>
              <a:t>【진행·멘트】구속사적 관점의 출발점: 지도 위에는 선이 있지만 그 북쪽에도 하나님이 지으신 사람이 삽니다. 통일교육의 출발은 땅이 아니라 사람입니다.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지도와 우리의 생각 ▸ 중주제 1-2 선 너머의 사람</a:t>
            </a:r>
          </a:p>
          <a:p>
            <a:r>
              <a:t>【배경】PAPER — 종이 질감 단색: 인용·성찰·긴 문장. 책 읽는 호흡</a:t>
            </a:r>
          </a:p>
          <a:p>
            <a:r>
              <a:t>【진행·멘트】이 구분이 없으면 비판은 혐오가 되고 연민은 침묵이 됩니다. 두 오류를 모두 피하는 것이 이 수업의 기본 약속입니다.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(대주제 전환) 왜 나뉘었을까?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【진행·멘트】이제부터 역사 이야기입니다. 연도를 외우는 시간이 아니라 "왜?"를 따라가는 시간임을 안내합니다.</a:t>
            </a:r>
          </a:p>
          <a:p>
            <a:r>
              <a:t>【시간】약 11분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2-1 해방과 38선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【진행·멘트】정답: 지금의 선은 정전협정으로 그은 군사분계선(휴전선)이며 38선과 다릅니다. 서쪽은 38선 아래(개성 등)가 북한에, 동쪽은 38선 위(속초·고성 등)가 남한에 속합니다. 이 퀴즈가 두 선의 구분을 만듭니다.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2-1 해방과 38선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【진행·멘트】"하나로 이어진 물건이 둘로 나뉘는" 비유를 짧게 말한 뒤 곧바로 사실로 돌아옵니다. 외부 국제정치와 내부 정치·이념이 함께 작용했고 하나의 원인·하나의 책임으로 설명하지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2-1 해방과 38선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【미디어】[일러스트] 한 집(한반도) 안에서 서로 다른 방향을 가리키는 사람들과 지붕 위의 큰 손</a:t>
            </a:r>
          </a:p>
          <a:p>
            <a:r>
              <a:t>  ▸ 준비: 집 비유 인포그래픽. 국기·군복 대신 색으로만 구분</a:t>
            </a:r>
          </a:p>
          <a:p>
            <a:r>
              <a:t>【진행·멘트】비유는 역사적 사실을 대신하지 않고 인과관계에 질문을 갖게 하는 도구입니다.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2-2 두 개의 정부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【진행·멘트】"둘로 나뉘어 각자 다른 길"의 출발선입니다. 우열을 가리지 않고 사실만 전달하고, 다음 파트에서 제도 차이를 질문으로 비교합니다.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2-3 6·25와 정전</a:t>
            </a:r>
          </a:p>
          <a:p>
            <a:r>
              <a:t>【배경】NIGHT — 남색 밤하늘: 야경·단절·그리움 등 무게 있는 장면. 사진/위성이미지가 돋보임</a:t>
            </a:r>
          </a:p>
          <a:p>
            <a:r>
              <a:t>【진행·멘트】"평화조약이 아니라 정전협정"이라는 구분이 오늘 가장 중요한 용어입니다.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2-3 6·25와 정전</a:t>
            </a:r>
          </a:p>
          <a:p>
            <a:r>
              <a:t>【배경】NIGHT — 남색 밤하늘: 야경·단절·그리움 등 무게 있는 장면. 사진/위성이미지가 돋보임</a:t>
            </a:r>
          </a:p>
          <a:p>
            <a:r>
              <a:t>【미디어】[사진] 비무장지대(DMZ) 철책과 초소, 평화의 숲이 함께 보이는 항공 사진</a:t>
            </a:r>
          </a:p>
          <a:p>
            <a:r>
              <a:t>  ▸ 준비: 통일부·국방부 공공누리 사진 또는 한국관광공사 사진. 총기·군인 클로즈업은 피하고 자연이 보이는 구도</a:t>
            </a:r>
          </a:p>
          <a:p>
            <a:r>
              <a:t>【진행·멘트】DMZ는 가장 군사화된 곳이자 자연이 보전된 곳이라는 이중성을 짧게 언급합니다.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왜 나뉘었을까? ▸ 중주제 2-3 6·25와 정전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【미디어】[활동] 사건 카드 4장 이미지(해방·정부 수립·전쟁·정전)</a:t>
            </a:r>
          </a:p>
          <a:p>
            <a:r>
              <a:t>  ▸ 준비: 카드 인쇄용 PDF 별도 제공. 모둠별 1세트</a:t>
            </a:r>
          </a:p>
          <a:p>
            <a:r>
              <a:t>【진행·멘트】암기 점검이 아니라 인과를 말로 연결하는지 확인합니다.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(대주제 전환) 삶의 질문으로 비교해요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【진행·멘트】"같은 민족이 왜 다른 삶을 살게 되었을까요?"를 학생의 하루 질문으로 풀어 갑니다.</a:t>
            </a:r>
          </a:p>
          <a:p>
            <a:r>
              <a:t>【시간】약 11분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3-1 지도자와 법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【진행·멘트】나라의 주인은 누구인가를 반장 선거 비유로 시작합니다. 지도자를 바꿀 수 있는 구조가 정치체제의 첫 질문입니다.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3-1 지도자와 법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【진행·멘트】법치 개념을 용어로 먼저 암기시키지 않고 학급 규칙 비유 뒤에 이름을 붙입니다.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3-2 직업·재산·시장</a:t>
            </a:r>
          </a:p>
          <a:p>
            <a:r>
              <a:t>【배경】WARM — 따뜻한 석양 톤: 소망·다짐·꿈. 정서적 마무리</a:t>
            </a:r>
          </a:p>
          <a:p>
            <a:r>
              <a:t>【미디어】[활동] 교실 물건(연필·스티커)을 사고파는 교실 풍경</a:t>
            </a:r>
          </a:p>
          <a:p>
            <a:r>
              <a:t>  ▸ 준비: 실제 교실 물건 활용. 판매자 모둠/구매자 모둠 역할 카드. 시장경제와 계획경제 차이를 체험으로 연결</a:t>
            </a:r>
          </a:p>
          <a:p>
            <a:r>
              <a:t>【진행·멘트】교실의 물건을 활용해 누가 무엇이 필요한지 결정하는가, 노력과 보상이 연결되는가, 가격과 정보는 누가 만드는가를 생활언어로 접근합니다.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3-2 직업·재산·시장</a:t>
            </a:r>
          </a:p>
          <a:p>
            <a:r>
              <a:t>【배경】WARM — 따뜻한 석양 톤: 소망·다짐·꿈. 정서적 마무리</a:t>
            </a:r>
          </a:p>
          <a:p>
            <a:r>
              <a:t>【진행·멘트】북한의 공식 제도(계획·배치)와 주민의 실제 생존(장마당)을 함께 언급해 "수동적 존재"로만 그리지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3-3 말·정보·이동·예배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【진행·멘트】대한민국을 완전한 국가로 미화하지 않습니다. 대한민국도 문제가 있지만 말하고 고칠 수 있다는 점이 차이임을 마지막에 한 문장으로 짚습니다.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삶의 질문으로 비교해요 ▸ 중주제 3-3 말·정보·이동·예배</a:t>
            </a:r>
          </a:p>
          <a:p>
            <a:r>
              <a:t>【배경】WARM — 따뜻한 석양 톤: 소망·다짐·꿈. 정서적 마무리</a:t>
            </a:r>
          </a:p>
          <a:p>
            <a:r>
              <a:t>【미디어】[활동] 학생 하루 타임라인 일러스트(아침·학교·방과후·주일)</a:t>
            </a:r>
          </a:p>
          <a:p>
            <a:r>
              <a:t>  ▸ 준비: 하루 시간표 인포그래픽. 선택 지점마다 별표</a:t>
            </a:r>
          </a:p>
          <a:p>
            <a:r>
              <a:t>【진행·멘트】체제 이야기를 학생 자신의 자유로 되돌립니다. 마지막 질문: "이 자유를 어디에 쓰고 싶어요?"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어떤 통일이 좋은 통일일까? ▸ 중주제 (대주제 전환) 어떤 통일이 좋은 통일일까?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【진행·멘트】"통일이 좋은가?"가 아니라 "어떤 통일이 좋은가?"로 질문을 바꿉니다.</a:t>
            </a:r>
          </a:p>
          <a:p>
            <a:r>
              <a:t>【시간】약 10분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어떤 통일이 좋은 통일일까? ▸ 중주제 4-1 통일하면 좋아지는 것</a:t>
            </a:r>
          </a:p>
          <a:p>
            <a:r>
              <a:t>【배경】WARM — 따뜻한 석양 톤: 소망·다짐·꿈. 정서적 마무리</a:t>
            </a:r>
          </a:p>
          <a:p>
            <a:r>
              <a:t>【미디어】[사진] 이산가족 상봉 행사의 포옹 장면</a:t>
            </a:r>
          </a:p>
          <a:p>
            <a:r>
              <a:t>  ▸ 준비: 통일부 공공누리 제1유형 사진. 상봉 신청자·생존자 통계는 최신 통일부 이산가족정보통합시스템 수치로 교체 확인 후 캡션에 사용</a:t>
            </a:r>
          </a:p>
          <a:p>
            <a:r>
              <a:t>【진행·멘트】통일의 기회 첫 번째는 사람입니다. 숫자 제시 시 기준일을 반드시 함께 말합니다.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어떤 통일이 좋은 통일일까? ▸ 중주제 4-1 통일하면 좋아지는 것</a:t>
            </a:r>
          </a:p>
          <a:p>
            <a:r>
              <a:t>【배경】WARM — 따뜻한 석양 톤: 소망·다짐·꿈. 정서적 마무리</a:t>
            </a:r>
          </a:p>
          <a:p>
            <a:r>
              <a:t>【진행·멘트】직업 예시는 가능성의 상상입니다. 확정된 미래로 단정하지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어떤 통일이 좋은 통일일까? ▸ 중주제 4-2 통일하면 힘든 것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【진행·멘트】가족이 함께 살 때 차이와 필요를 감당하듯 통일도 경제적 이익만으로 평가할 수 없습니다. 낙관과 두려움 모두에 치우치지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어떤 통일이 좋은 통일일까? ▸ 중주제 4-3 좋은 통일의 조건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【진행·멘트】여섯 조건 카드. 학생이 카드 3장을 고르고 이유를 한 문장으로 쓰는 활동으로 이어집니다.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어떤 통일이 좋은 통일일까? ▸ 중주제 4-3 좋은 통일의 조건</a:t>
            </a:r>
          </a:p>
          <a:p>
            <a:r>
              <a:t>【배경】NOTE — 격자 노트 질감: 생각 쓰기·정리·활동 슬라이드. 카드 위 글씨 가독성 최상</a:t>
            </a:r>
          </a:p>
          <a:p>
            <a:r>
              <a:t>【미디어】[활동] 조건 카드 6종 인쇄물(자유·인권·법치·안전·참여·책임)</a:t>
            </a:r>
          </a:p>
          <a:p>
            <a:r>
              <a:t>  ▸ 준비: 카드 앞면 아이콘, 뒷면 한 줄 설명. 모둠당 1세트</a:t>
            </a:r>
          </a:p>
          <a:p>
            <a:r>
              <a:t>【진행·멘트】정답이 아니라 근거를 가진 판단이 목표입니다. 서로 다른 선택을 존중하게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다짐 ▸ 중주제 (대주제 전환) 나의 다짐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【진행·멘트】마지막 파트: 지식에서 나의 역할로 돌아옵니다.</a:t>
            </a:r>
          </a:p>
          <a:p>
            <a:r>
              <a:t>【시간】약 4분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다짐 ▸ 중주제 5-1 준비된 사람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【진행·멘트】학생의 꿈을 한반도의 회복과 연결합니다. 직업이 아니라 "이웃을 섬기는 일"로 번역합니다.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나의 다짐 ▸ 중주제 5-2 오늘의 정리</a:t>
            </a:r>
          </a:p>
          <a:p>
            <a:r>
              <a:t>【배경】WARM — 따뜻한 석양 톤: 소망·다짐·꿈. 정서적 마무리</a:t>
            </a:r>
          </a:p>
          <a:p>
            <a:r>
              <a:t>【진행·멘트】처음 목표 세 가지와 연결해 되돌립니다.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마무리</a:t>
            </a:r>
          </a:p>
          <a:p>
            <a:r>
              <a:t>【배경】SKY — 하늘·초원 일러스트: 안전하고 밝은 첫인상, 저학년의 주의 집중과 "열린 땅" 이미지</a:t>
            </a:r>
          </a:p>
          <a:p>
            <a:r>
              <a:t>【진행·멘트】마지막 한 문장을 학생들과 함께 읽습니다. 포스트잇 결과물은 담임교사와 공유합니다.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71600"/>
            <a:ext cx="7498079" cy="4206240"/>
          </a:xfrm>
          <a:prstGeom prst="roundRect">
            <a:avLst>
              <a:gd name="adj" fmla="val 6521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1691640"/>
            <a:ext cx="2651760" cy="457200"/>
          </a:xfrm>
          <a:prstGeom prst="roundRect">
            <a:avLst>
              <a:gd name="adj" fmla="val 40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REBUILDER 통일교육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6949440" cy="2103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1F2A37"/>
                </a:solidFill>
                <a:latin typeface="Malgun Gothic"/>
                <a:ea typeface="Malgun Gothic"/>
              </a:rPr>
              <a:t>어떤 통일이
</a:t>
            </a:r>
            <a:r>
              <a:rPr sz="4800" b="1">
                <a:solidFill>
                  <a:srgbClr val="1F8A5B"/>
                </a:solidFill>
                <a:latin typeface="Malgun Gothic"/>
                <a:ea typeface="Malgun Gothic"/>
              </a:rPr>
              <a:t>좋은 통일</a:t>
            </a:r>
            <a:r>
              <a:rPr sz="4800" b="1">
                <a:solidFill>
                  <a:srgbClr val="1F2A37"/>
                </a:solidFill>
                <a:latin typeface="Malgun Gothic"/>
                <a:ea typeface="Malgun Gothic"/>
              </a:rPr>
              <a:t>일까요?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5B6773"/>
                </a:solidFill>
                <a:latin typeface="Malgun Gothic"/>
                <a:ea typeface="Malgun Gothic"/>
              </a:rPr>
              <a:t>왜 나뉘었고, 어떻게 다르게 살게 되었고, 어떤 통일을 바라는가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91640"/>
            <a:ext cx="2743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초등 고학년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68880"/>
            <a:ext cx="2560320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초등 고학년 1회 특강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45~50분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사실로 배우고 · 질문으로 판단하는 한반도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제안: SEE-IT  |  자유와 사람을 위한 통일 — 구속사적 관점으로 배우는 한반도와 우리의 사명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강사 소개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1874519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74519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04288"/>
            <a:ext cx="2743200" cy="28346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CFE3D6"/>
                </a:solidFill>
                <a:latin typeface="Malgun Gothic"/>
                <a:ea typeface="Malgun Gothic"/>
              </a:rPr>
              <a:t>강사 프로필 사진(선택)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6126480" cy="37490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600" b="1">
                <a:solidFill>
                  <a:srgbClr val="FFD479"/>
                </a:solidFill>
                <a:latin typeface="Malgun Gothic"/>
                <a:ea typeface="Malgun Gothic"/>
              </a:rPr>
              <a:t>이름</a:t>
            </a:r>
            <a:r>
              <a:rPr sz="2600" b="0">
                <a:solidFill>
                  <a:srgbClr val="FFFFFF"/>
                </a:solidFill>
                <a:latin typeface="Malgun Gothic"/>
                <a:ea typeface="Malgun Gothic"/>
              </a:rPr>
              <a:t> : [강사 이름]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600" b="1">
                <a:solidFill>
                  <a:srgbClr val="FFD479"/>
                </a:solidFill>
                <a:latin typeface="Malgun Gothic"/>
                <a:ea typeface="Malgun Gothic"/>
              </a:rPr>
              <a:t>소속</a:t>
            </a:r>
            <a:r>
              <a:rPr sz="2600" b="0">
                <a:solidFill>
                  <a:srgbClr val="FFFFFF"/>
                </a:solidFill>
                <a:latin typeface="Malgun Gothic"/>
                <a:ea typeface="Malgun Gothic"/>
              </a:rPr>
              <a:t> : SEE-IT · REBUILDER 통일교육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600" b="1">
                <a:solidFill>
                  <a:srgbClr val="FFD479"/>
                </a:solidFill>
                <a:latin typeface="Malgun Gothic"/>
                <a:ea typeface="Malgun Gothic"/>
              </a:rPr>
              <a:t>하는 일</a:t>
            </a:r>
            <a:r>
              <a:rPr sz="2600" b="0">
                <a:solidFill>
                  <a:srgbClr val="FFFFFF"/>
                </a:solidFill>
                <a:latin typeface="Malgun Gothic"/>
                <a:ea typeface="Malgun Gothic"/>
              </a:rPr>
              <a:t> : 한반도의 역사와 사람을 연구하고 가르쳐요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600" b="1">
                <a:solidFill>
                  <a:srgbClr val="FFD479"/>
                </a:solidFill>
                <a:latin typeface="Malgun Gothic"/>
                <a:ea typeface="Malgun Gothic"/>
              </a:rPr>
              <a:t>오늘 규칙</a:t>
            </a:r>
            <a:r>
              <a:rPr sz="2600" b="0">
                <a:solidFill>
                  <a:srgbClr val="FFFFFF"/>
                </a:solidFill>
                <a:latin typeface="Malgun Gothic"/>
                <a:ea typeface="Malgun Gothic"/>
              </a:rPr>
              <a:t> : 정답 대신 </a:t>
            </a:r>
            <a:r>
              <a:rPr sz="2600" b="1">
                <a:solidFill>
                  <a:srgbClr val="FFD479"/>
                </a:solidFill>
                <a:latin typeface="Malgun Gothic"/>
                <a:ea typeface="Malgun Gothic"/>
              </a:rPr>
              <a:t>이유</a:t>
            </a:r>
            <a:r>
              <a:rPr sz="2600" b="0">
                <a:solidFill>
                  <a:srgbClr val="FFFFFF"/>
                </a:solidFill>
                <a:latin typeface="Malgun Gothic"/>
                <a:ea typeface="Malgun Gothic"/>
              </a:rPr>
              <a:t>를 말해요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이번 시간에는?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1371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D479"/>
                </a:solidFill>
                <a:latin typeface="Malgun Gothic"/>
                <a:ea typeface="Malgun Gothic"/>
              </a:rPr>
              <a:t>왜 나뉘었고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, </a:t>
            </a:r>
            <a:r>
              <a:rPr sz="2800" b="1">
                <a:solidFill>
                  <a:srgbClr val="FFD479"/>
                </a:solidFill>
                <a:latin typeface="Malgun Gothic"/>
                <a:ea typeface="Malgun Gothic"/>
              </a:rPr>
              <a:t>어떤 통일</a:t>
            </a: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이 좋은지 스스로 설명해요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090672"/>
            <a:ext cx="548640" cy="5486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9067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algun Gothic"/>
                <a:ea typeface="Malgun Gothic"/>
              </a:rPr>
              <a:t>분단이 어떻게 시작됐는지 흐름으로 설명해요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959352"/>
            <a:ext cx="548640" cy="54864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9593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88620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algun Gothic"/>
                <a:ea typeface="Malgun Gothic"/>
              </a:rPr>
              <a:t>생활 질문으로 남북의 제도 차이를 이해해요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828031"/>
            <a:ext cx="548640" cy="54864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828031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754879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algun Gothic"/>
                <a:ea typeface="Malgun Gothic"/>
              </a:rPr>
              <a:t>좋은 통일의 조건을 내 말로 정리해요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FE3D6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목차 — 오늘의 대주제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61320" cy="5166359"/>
          </a:xfrm>
          <a:prstGeom prst="roundRect">
            <a:avLst>
              <a:gd name="adj" fmla="val 3185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777240" cy="868679"/>
          </a:xfrm>
          <a:prstGeom prst="roundRect">
            <a:avLst>
              <a:gd name="adj" fmla="val 18823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777240" cy="8686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25880"/>
            <a:ext cx="548640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F2A37"/>
                </a:solidFill>
                <a:latin typeface="Malgun Gothic"/>
                <a:ea typeface="Malgun Gothic"/>
              </a:rPr>
              <a:t>지도와 우리의 생각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246888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1-1 ·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325880"/>
            <a:ext cx="118872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Malgun Gothic"/>
                <a:ea typeface="Malgun Gothic"/>
              </a:rPr>
              <a:t>6분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50007"/>
            <a:ext cx="777240" cy="868679"/>
          </a:xfrm>
          <a:prstGeom prst="roundRect">
            <a:avLst>
              <a:gd name="adj" fmla="val 1882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50007"/>
            <a:ext cx="777240" cy="8686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04287"/>
            <a:ext cx="548640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F2A37"/>
                </a:solidFill>
                <a:latin typeface="Malgun Gothic"/>
                <a:ea typeface="Malgun Gothic"/>
              </a:rPr>
              <a:t>왜 나뉘었을까?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304287"/>
            <a:ext cx="246888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2-1 · 2-2 ·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304287"/>
            <a:ext cx="118872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96A0A"/>
                </a:solidFill>
                <a:latin typeface="Malgun Gothic"/>
                <a:ea typeface="Malgun Gothic"/>
              </a:rPr>
              <a:t>11분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328415"/>
            <a:ext cx="777240" cy="868679"/>
          </a:xfrm>
          <a:prstGeom prst="roundRect">
            <a:avLst>
              <a:gd name="adj" fmla="val 1882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28415"/>
            <a:ext cx="777240" cy="8686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282696"/>
            <a:ext cx="548640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F2A37"/>
                </a:solidFill>
                <a:latin typeface="Malgun Gothic"/>
                <a:ea typeface="Malgun Gothic"/>
              </a:rPr>
              <a:t>삶의 질문으로 비교해요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282696"/>
            <a:ext cx="246888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3-1 · 3-2 · 3-3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282696"/>
            <a:ext cx="118872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2377C4"/>
                </a:solidFill>
                <a:latin typeface="Malgun Gothic"/>
                <a:ea typeface="Malgun Gothic"/>
              </a:rPr>
              <a:t>11분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306823"/>
            <a:ext cx="777240" cy="868679"/>
          </a:xfrm>
          <a:prstGeom prst="roundRect">
            <a:avLst>
              <a:gd name="adj" fmla="val 18823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06823"/>
            <a:ext cx="777240" cy="8686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261103"/>
            <a:ext cx="548640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F2A37"/>
                </a:solidFill>
                <a:latin typeface="Malgun Gothic"/>
                <a:ea typeface="Malgun Gothic"/>
              </a:rPr>
              <a:t>어떤 통일이 좋은 통일일까?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261103"/>
            <a:ext cx="246888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4-1 · 4-2 · 4-3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261103"/>
            <a:ext cx="118872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93A6A"/>
                </a:solidFill>
                <a:latin typeface="Malgun Gothic"/>
                <a:ea typeface="Malgun Gothic"/>
              </a:rPr>
              <a:t>10분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285231"/>
            <a:ext cx="777240" cy="868679"/>
          </a:xfrm>
          <a:prstGeom prst="roundRect">
            <a:avLst>
              <a:gd name="adj" fmla="val 18823"/>
            </a:avLst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85231"/>
            <a:ext cx="777240" cy="8686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239512"/>
            <a:ext cx="548640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F2A37"/>
                </a:solidFill>
                <a:latin typeface="Malgun Gothic"/>
                <a:ea typeface="Malgun Gothic"/>
              </a:rPr>
              <a:t>나의 다짐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239512"/>
            <a:ext cx="246888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5-1 · 5-2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239512"/>
            <a:ext cx="1188720" cy="94183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6E55C2"/>
                </a:solidFill>
                <a:latin typeface="Malgun Gothic"/>
                <a:ea typeface="Malgun Gothic"/>
              </a:rPr>
              <a:t>4분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1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Malgun Gothic"/>
                <a:ea typeface="Malgun Gothic"/>
              </a:rPr>
              <a:t>지도와 우리의 생각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북한 하면 무엇이 떠오르나요? 선의 북쪽에는 누가 살까요?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내가 아는 북한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선 너머의 사람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6분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지도와 우리의 생각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948939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0802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내가 아는 북한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F2A37"/>
                </a:solidFill>
                <a:latin typeface="Malgun Gothic"/>
                <a:ea typeface="Malgun Gothic"/>
              </a:rPr>
              <a:t>북한 하면 떠오르는 낱말은?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1F8A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2분 · 포스트잇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1F8A5B"/>
                </a:solidFill>
                <a:latin typeface="Malgun Gothic"/>
                <a:ea typeface="Malgun Gothic"/>
              </a:rPr>
              <a:t>1.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포스트잇에 </a:t>
            </a:r>
            <a:r>
              <a:rPr sz="2200" b="1">
                <a:solidFill>
                  <a:srgbClr val="1F8A5B"/>
                </a:solidFill>
                <a:latin typeface="Malgun Gothic"/>
                <a:ea typeface="Malgun Gothic"/>
              </a:rPr>
              <a:t>낱말 2개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쓰기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1F8A5B"/>
                </a:solidFill>
                <a:latin typeface="Malgun Gothic"/>
                <a:ea typeface="Malgun Gothic"/>
              </a:rPr>
              <a:t>2.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칠판 한 곳에 모아 붙이기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1F8A5B"/>
                </a:solidFill>
                <a:latin typeface="Malgun Gothic"/>
                <a:ea typeface="Malgun Gothic"/>
              </a:rPr>
              <a:t>3.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자주 나온 낱말에 </a:t>
            </a:r>
            <a:r>
              <a:rPr sz="2200" b="1">
                <a:solidFill>
                  <a:srgbClr val="1F8A5B"/>
                </a:solidFill>
                <a:latin typeface="Malgun Gothic"/>
                <a:ea typeface="Malgun Gothic"/>
              </a:rPr>
              <a:t>동그라미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1F8A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학생이 붙인 낱말로 만드는 단어구름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지도와 우리의 생각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948939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0802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내가 아는 북한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한반도 지도에서 우리는 어디까지일까요?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1F8A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지도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한반도 전도(국경·바다·주요 도시만)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1B2430"/>
                </a:solidFill>
                <a:latin typeface="Malgun Gothic"/>
                <a:ea typeface="Malgun Gothic"/>
              </a:rPr>
              <a:t>대한민국의 범위와 북한의 위치를 손가락으로 짚어 봐요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지도와 우리의 생각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948939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0802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선 너머의 사람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27231C"/>
                </a:solidFill>
                <a:latin typeface="Malgun Gothic"/>
                <a:ea typeface="Malgun Gothic"/>
              </a:rPr>
              <a:t>선의 북쪽에도 사람이 살아요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1F8A5B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27231C"/>
                </a:solidFill>
                <a:latin typeface="Malgun Gothic"/>
                <a:ea typeface="Malgun Gothic"/>
              </a:rPr>
              <a:t>하나님이 자기 형상 곧 </a:t>
            </a:r>
            <a:r>
              <a:rPr sz="3600" b="1">
                <a:solidFill>
                  <a:srgbClr val="1F8A5B"/>
                </a:solidFill>
                <a:latin typeface="Malgun Gothic"/>
                <a:ea typeface="Malgun Gothic"/>
              </a:rPr>
              <a:t>하나님의 형상</a:t>
            </a:r>
            <a:r>
              <a:rPr sz="3600" b="1">
                <a:solidFill>
                  <a:srgbClr val="27231C"/>
                </a:solidFill>
                <a:latin typeface="Malgun Gothic"/>
                <a:ea typeface="Malgun Gothic"/>
              </a:rPr>
              <a:t>대로 사람을 창조하시되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68112"/>
            <a:ext cx="9784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4B5560"/>
                </a:solidFill>
                <a:latin typeface="Malgun Gothic"/>
                <a:ea typeface="Malgun Gothic"/>
              </a:rPr>
              <a:t>창세기 1장 27절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지도와 우리의 생각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8A5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948939" cy="402336"/>
          </a:xfrm>
          <a:prstGeom prst="roundRect">
            <a:avLst>
              <a:gd name="adj" fmla="val 45454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0802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선 너머의 사람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27231C"/>
                </a:solidFill>
                <a:latin typeface="Malgun Gothic"/>
                <a:ea typeface="Malgun Gothic"/>
              </a:rPr>
              <a:t>정권과 주민은 달라요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7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북한 정권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27231C"/>
                </a:solidFill>
                <a:latin typeface="Malgun Gothic"/>
                <a:ea typeface="Malgun Gothic"/>
              </a:rPr>
              <a:t>•  나라를 이끄는 힘·제도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27231C"/>
                </a:solidFill>
                <a:latin typeface="Malgun Gothic"/>
                <a:ea typeface="Malgun Gothic"/>
              </a:rPr>
              <a:t>•  사실에 따라 </a:t>
            </a:r>
            <a:r>
              <a:rPr sz="2300" b="1">
                <a:solidFill>
                  <a:srgbClr val="7A8794"/>
                </a:solidFill>
                <a:latin typeface="Malgun Gothic"/>
                <a:ea typeface="Malgun Gothic"/>
              </a:rPr>
              <a:t>평가하고 비판</a:t>
            </a:r>
            <a:r>
              <a:rPr sz="2300" b="0">
                <a:solidFill>
                  <a:srgbClr val="27231C"/>
                </a:solidFill>
                <a:latin typeface="Malgun Gothic"/>
                <a:ea typeface="Malgun Gothic"/>
              </a:rPr>
              <a:t>해요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북한 주민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27231C"/>
                </a:solidFill>
                <a:latin typeface="Malgun Gothic"/>
                <a:ea typeface="Malgun Gothic"/>
              </a:rPr>
              <a:t>•  함께 살아갈 </a:t>
            </a:r>
            <a:r>
              <a:rPr sz="2300" b="1">
                <a:solidFill>
                  <a:srgbClr val="1F8A5B"/>
                </a:solidFill>
                <a:latin typeface="Malgun Gothic"/>
                <a:ea typeface="Malgun Gothic"/>
              </a:rPr>
              <a:t>사람</a:t>
            </a:r>
            <a:r>
              <a:rPr sz="2300" b="0">
                <a:solidFill>
                  <a:srgbClr val="27231C"/>
                </a:solidFill>
                <a:latin typeface="Malgun Gothic"/>
                <a:ea typeface="Malgun Gothic"/>
              </a:rPr>
              <a:t>이에요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27231C"/>
                </a:solidFill>
                <a:latin typeface="Malgun Gothic"/>
                <a:ea typeface="Malgun Gothic"/>
              </a:rPr>
              <a:t>•  미워하거나 낙인찍지 않아요</a:t>
            </a:r>
          </a:p>
        </p:txBody>
      </p:sp>
      <p:sp>
        <p:nvSpPr>
          <p:cNvPr id="30" name="Oval 29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Malgun Gothic"/>
                <a:ea typeface="Malgun Gothic"/>
              </a:rPr>
              <a:t>왜 나뉘었을까?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같은 민족이 어떻게 둘로 나뉘었을까요?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96A0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해방과 38선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두 개의 정부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6·25와 정전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11분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61747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4878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해방과 38선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'38선'일까요, '휴전선'일까요?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C96A0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2770632"/>
            <a:ext cx="1005840" cy="457200"/>
          </a:xfrm>
          <a:prstGeom prst="roundRect">
            <a:avLst>
              <a:gd name="adj" fmla="val 40000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770632"/>
            <a:ext cx="1005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퀴즈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1B2430"/>
                </a:solidFill>
                <a:latin typeface="Malgun Gothic"/>
                <a:ea typeface="Malgun Gothic"/>
              </a:rPr>
              <a:t>지금 남북을 가르는 선은 </a:t>
            </a:r>
            <a:r>
              <a:rPr sz="3600" b="1">
                <a:solidFill>
                  <a:srgbClr val="C96A0A"/>
                </a:solidFill>
                <a:latin typeface="Malgun Gothic"/>
                <a:ea typeface="Malgun Gothic"/>
              </a:rPr>
              <a:t>38선</a:t>
            </a:r>
            <a:r>
              <a:rPr sz="3600" b="1">
                <a:solidFill>
                  <a:srgbClr val="1B2430"/>
                </a:solidFill>
                <a:latin typeface="Malgun Gothic"/>
                <a:ea typeface="Malgun Gothic"/>
              </a:rPr>
              <a:t>일까요, </a:t>
            </a:r>
            <a:r>
              <a:rPr sz="3600" b="1">
                <a:solidFill>
                  <a:srgbClr val="C96A0A"/>
                </a:solidFill>
                <a:latin typeface="Malgun Gothic"/>
                <a:ea typeface="Malgun Gothic"/>
              </a:rPr>
              <a:t>휴전선</a:t>
            </a:r>
            <a:r>
              <a:rPr sz="3600" b="1">
                <a:solidFill>
                  <a:srgbClr val="1B2430"/>
                </a:solidFill>
                <a:latin typeface="Malgun Gothic"/>
                <a:ea typeface="Malgun Gothic"/>
              </a:rPr>
              <a:t>일까요?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O/X 대신 손 들기: ① 38선  ② 휴전선  ③ 둘 다 달라요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이유를 짝에게 말해요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61747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4878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해방과 38선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하나로 이어진 땅이 둘로 나뉘는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8212" y="3630168"/>
            <a:ext cx="365760" cy="36576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2862072"/>
            <a:ext cx="3380232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1945.8.15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4142232"/>
            <a:ext cx="3343656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1B2430"/>
                </a:solidFill>
                <a:latin typeface="Malgun Gothic"/>
                <a:ea typeface="Malgun Gothic"/>
              </a:rPr>
              <a:t>해방, 나라를 되찾음</a:t>
            </a:r>
          </a:p>
        </p:txBody>
      </p:sp>
      <p:sp>
        <p:nvSpPr>
          <p:cNvPr id="29" name="Oval 28"/>
          <p:cNvSpPr/>
          <p:nvPr/>
        </p:nvSpPr>
        <p:spPr>
          <a:xfrm>
            <a:off x="5911596" y="3630168"/>
            <a:ext cx="365760" cy="36576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4360" y="2862072"/>
            <a:ext cx="3380232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1945.8~9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2648" y="4142232"/>
            <a:ext cx="3343656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1B2430"/>
                </a:solidFill>
                <a:latin typeface="Malgun Gothic"/>
                <a:ea typeface="Malgun Gothic"/>
              </a:rPr>
              <a:t>38선 이북 소련군 · 이남 미군 진주</a:t>
            </a:r>
          </a:p>
        </p:txBody>
      </p:sp>
      <p:sp>
        <p:nvSpPr>
          <p:cNvPr id="32" name="Oval 31"/>
          <p:cNvSpPr/>
          <p:nvPr/>
        </p:nvSpPr>
        <p:spPr>
          <a:xfrm>
            <a:off x="9364980" y="3630168"/>
            <a:ext cx="365760" cy="36576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7744" y="2862072"/>
            <a:ext cx="3380232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1945~47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6032" y="4142232"/>
            <a:ext cx="3343656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1B2430"/>
                </a:solidFill>
                <a:latin typeface="Malgun Gothic"/>
                <a:ea typeface="Malgun Gothic"/>
              </a:rPr>
              <a:t>신탁통치·좌우 갈등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C96A0A"/>
                </a:solidFill>
                <a:latin typeface="Malgun Gothic"/>
                <a:ea typeface="Malgun Gothic"/>
              </a:rPr>
              <a:t>밖의 사정</a:t>
            </a:r>
            <a:r>
              <a:rPr sz="2000" b="1">
                <a:solidFill>
                  <a:srgbClr val="4B5560"/>
                </a:solidFill>
                <a:latin typeface="Malgun Gothic"/>
                <a:ea typeface="Malgun Gothic"/>
              </a:rPr>
              <a:t>과 </a:t>
            </a:r>
            <a:r>
              <a:rPr sz="2000" b="1">
                <a:solidFill>
                  <a:srgbClr val="C96A0A"/>
                </a:solidFill>
                <a:latin typeface="Malgun Gothic"/>
                <a:ea typeface="Malgun Gothic"/>
              </a:rPr>
              <a:t>안의 선택</a:t>
            </a:r>
            <a:r>
              <a:rPr sz="2000" b="1">
                <a:solidFill>
                  <a:srgbClr val="4B5560"/>
                </a:solidFill>
                <a:latin typeface="Malgun Gothic"/>
                <a:ea typeface="Malgun Gothic"/>
              </a:rPr>
              <a:t>이 함께 작용했어요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61747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4878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해방과 38선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겉은 하나, 안에서도 생각이 달랐어요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C96A0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1B2430"/>
                </a:solidFill>
                <a:latin typeface="Malgun Gothic"/>
                <a:ea typeface="Malgun Gothic"/>
              </a:rPr>
              <a:t>•  해방 후 어떤 나라를 세울지 </a:t>
            </a: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의견이 달랐어요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1B2430"/>
                </a:solidFill>
                <a:latin typeface="Malgun Gothic"/>
                <a:ea typeface="Malgun Gothic"/>
              </a:rPr>
              <a:t>•  밖에서는 강대국의 </a:t>
            </a: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관여</a:t>
            </a:r>
            <a:r>
              <a:rPr sz="2400" b="0">
                <a:solidFill>
                  <a:srgbClr val="1B2430"/>
                </a:solidFill>
                <a:latin typeface="Malgun Gothic"/>
                <a:ea typeface="Malgun Gothic"/>
              </a:rPr>
              <a:t>가 있었어요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1B2430"/>
                </a:solidFill>
                <a:latin typeface="Malgun Gothic"/>
                <a:ea typeface="Malgun Gothic"/>
              </a:rPr>
              <a:t>•  이 둘이 합쳐져 </a:t>
            </a:r>
            <a:r>
              <a:rPr sz="2400" b="1">
                <a:solidFill>
                  <a:srgbClr val="C96A0A"/>
                </a:solidFill>
                <a:latin typeface="Malgun Gothic"/>
                <a:ea typeface="Malgun Gothic"/>
              </a:rPr>
              <a:t>갈림길</a:t>
            </a:r>
            <a:r>
              <a:rPr sz="2400" b="0">
                <a:solidFill>
                  <a:srgbClr val="1B2430"/>
                </a:solidFill>
                <a:latin typeface="Malgun Gothic"/>
                <a:ea typeface="Malgun Gothic"/>
              </a:rPr>
              <a:t>이 됐어요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6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일러스트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한 집(한반도) 안에서 서로 다른 방향을 가리키는 사람들과 지붕 위의 큰 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720339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8516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두 개의 정부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1948년, 두 개의 정부가 세워졌어요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대한민국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1B2430"/>
                </a:solidFill>
                <a:latin typeface="Malgun Gothic"/>
                <a:ea typeface="Malgun Gothic"/>
              </a:rPr>
              <a:t>•  1948.8.15 정부 수립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1B2430"/>
                </a:solidFill>
                <a:latin typeface="Malgun Gothic"/>
                <a:ea typeface="Malgun Gothic"/>
              </a:rPr>
              <a:t>•  유엔 감시 아래 치른 </a:t>
            </a:r>
            <a:r>
              <a:rPr sz="2300" b="1">
                <a:solidFill>
                  <a:srgbClr val="2377C4"/>
                </a:solidFill>
                <a:latin typeface="Malgun Gothic"/>
                <a:ea typeface="Malgun Gothic"/>
              </a:rPr>
              <a:t>총선거</a:t>
            </a:r>
            <a:r>
              <a:rPr sz="2300" b="0">
                <a:solidFill>
                  <a:srgbClr val="1B2430"/>
                </a:solidFill>
                <a:latin typeface="Malgun Gothic"/>
                <a:ea typeface="Malgun Gothic"/>
              </a:rPr>
              <a:t>를 거쳐요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북한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1B2430"/>
                </a:solidFill>
                <a:latin typeface="Malgun Gothic"/>
                <a:ea typeface="Malgun Gothic"/>
              </a:rPr>
              <a:t>•  1948.9.9 정부 수립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1B2430"/>
                </a:solidFill>
                <a:latin typeface="Malgun Gothic"/>
                <a:ea typeface="Malgun Gothic"/>
              </a:rPr>
              <a:t>•  북쪽 지역에 </a:t>
            </a:r>
            <a:r>
              <a:rPr sz="2300" b="1">
                <a:solidFill>
                  <a:srgbClr val="C93A6A"/>
                </a:solidFill>
                <a:latin typeface="Malgun Gothic"/>
                <a:ea typeface="Malgun Gothic"/>
              </a:rPr>
              <a:t>별도 정부</a:t>
            </a:r>
          </a:p>
        </p:txBody>
      </p:sp>
      <p:sp>
        <p:nvSpPr>
          <p:cNvPr id="32" name="Oval 31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64033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7165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6·25와 정전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6·25 전쟁과 정전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0F1B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8212" y="3630168"/>
            <a:ext cx="365760" cy="36576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2862072"/>
            <a:ext cx="3380232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1950.6.25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4142232"/>
            <a:ext cx="3343656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</a:rPr>
              <a:t>전쟁 시작</a:t>
            </a:r>
          </a:p>
        </p:txBody>
      </p:sp>
      <p:sp>
        <p:nvSpPr>
          <p:cNvPr id="29" name="Oval 28"/>
          <p:cNvSpPr/>
          <p:nvPr/>
        </p:nvSpPr>
        <p:spPr>
          <a:xfrm>
            <a:off x="5911596" y="3630168"/>
            <a:ext cx="365760" cy="36576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4360" y="2862072"/>
            <a:ext cx="3380232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1951~52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2648" y="4142232"/>
            <a:ext cx="3343656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</a:rPr>
              <a:t>전선 고착, 정전 협상</a:t>
            </a:r>
          </a:p>
        </p:txBody>
      </p:sp>
      <p:sp>
        <p:nvSpPr>
          <p:cNvPr id="32" name="Oval 31"/>
          <p:cNvSpPr/>
          <p:nvPr/>
        </p:nvSpPr>
        <p:spPr>
          <a:xfrm>
            <a:off x="9364980" y="3630168"/>
            <a:ext cx="365760" cy="36576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7744" y="2862072"/>
            <a:ext cx="3380232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D479"/>
                </a:solidFill>
                <a:latin typeface="Malgun Gothic"/>
                <a:ea typeface="Malgun Gothic"/>
              </a:rPr>
              <a:t>1953.7.27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6032" y="4142232"/>
            <a:ext cx="3343656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</a:rPr>
              <a:t>정전협정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C9D3F0"/>
                </a:solidFill>
                <a:latin typeface="Malgun Gothic"/>
                <a:ea typeface="Malgun Gothic"/>
              </a:rPr>
              <a:t>정전은 </a:t>
            </a:r>
            <a:r>
              <a:rPr sz="2000" b="1">
                <a:solidFill>
                  <a:srgbClr val="C96A0A"/>
                </a:solidFill>
                <a:latin typeface="Malgun Gothic"/>
                <a:ea typeface="Malgun Gothic"/>
              </a:rPr>
              <a:t>전쟁이 멈춘 것</a:t>
            </a:r>
            <a:r>
              <a:rPr sz="2000" b="1">
                <a:solidFill>
                  <a:srgbClr val="C9D3F0"/>
                </a:solidFill>
                <a:latin typeface="Malgun Gothic"/>
                <a:ea typeface="Malgun Gothic"/>
              </a:rPr>
              <a:t>이지 </a:t>
            </a:r>
            <a:r>
              <a:rPr sz="2000" b="1">
                <a:solidFill>
                  <a:srgbClr val="C96A0A"/>
                </a:solidFill>
                <a:latin typeface="Malgun Gothic"/>
                <a:ea typeface="Malgun Gothic"/>
              </a:rPr>
              <a:t>전쟁이 끝난 것</a:t>
            </a:r>
            <a:r>
              <a:rPr sz="2000" b="1">
                <a:solidFill>
                  <a:srgbClr val="C9D3F0"/>
                </a:solidFill>
                <a:latin typeface="Malgun Gothic"/>
                <a:ea typeface="Malgun Gothic"/>
              </a:rPr>
              <a:t>이 아니에요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64033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7165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6·25와 정전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지금의 선: DMZ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9D3F0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9D3F0"/>
                </a:solidFill>
                <a:latin typeface="Malgun Gothic"/>
                <a:ea typeface="Malgun Gothic"/>
              </a:rPr>
              <a:t>비무장지대(DMZ) 철책과 초소, 평화의 숲이 함께 보이는 항공 사진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군사분계선 남북 </a:t>
            </a:r>
            <a:r>
              <a:rPr sz="2000" b="1">
                <a:solidFill>
                  <a:srgbClr val="FFD479"/>
                </a:solidFill>
                <a:latin typeface="Malgun Gothic"/>
                <a:ea typeface="Malgun Gothic"/>
              </a:rPr>
              <a:t>2km씩, 폭 약 4km · 길이 약 248km</a:t>
            </a: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의 비무장지대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왜 나뉘었을까?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6A0A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640330" cy="402336"/>
          </a:xfrm>
          <a:prstGeom prst="roundRect">
            <a:avLst>
              <a:gd name="adj" fmla="val 45454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7165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6·25와 정전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F2A37"/>
                </a:solidFill>
                <a:latin typeface="Malgun Gothic"/>
                <a:ea typeface="Malgun Gothic"/>
              </a:rPr>
              <a:t>중간 점검: 순서를 맞춰요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C96A0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2분 · 카드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C96A0A"/>
                </a:solidFill>
                <a:latin typeface="Malgun Gothic"/>
                <a:ea typeface="Malgun Gothic"/>
              </a:rPr>
              <a:t>1.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카드 4장 </a:t>
            </a:r>
            <a:r>
              <a:rPr sz="2200" b="1">
                <a:solidFill>
                  <a:srgbClr val="C96A0A"/>
                </a:solidFill>
                <a:latin typeface="Malgun Gothic"/>
                <a:ea typeface="Malgun Gothic"/>
              </a:rPr>
              <a:t>순서대로 배열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(해방 · 두 정부 · 전쟁 · 정전)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C96A0A"/>
                </a:solidFill>
                <a:latin typeface="Malgun Gothic"/>
                <a:ea typeface="Malgun Gothic"/>
              </a:rPr>
              <a:t>2.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모둠이 </a:t>
            </a:r>
            <a:r>
              <a:rPr sz="2200" b="1">
                <a:solidFill>
                  <a:srgbClr val="C96A0A"/>
                </a:solidFill>
                <a:latin typeface="Malgun Gothic"/>
                <a:ea typeface="Malgun Gothic"/>
              </a:rPr>
              <a:t>이유 한 줄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씩 말하기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C96A0A"/>
                </a:solidFill>
                <a:latin typeface="Malgun Gothic"/>
                <a:ea typeface="Malgun Gothic"/>
              </a:rPr>
              <a:t>3.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틀린 부분은 </a:t>
            </a:r>
            <a:r>
              <a:rPr sz="2200" b="1">
                <a:solidFill>
                  <a:srgbClr val="C96A0A"/>
                </a:solidFill>
                <a:latin typeface="Malgun Gothic"/>
                <a:ea typeface="Malgun Gothic"/>
              </a:rPr>
              <a:t>서로 고쳐 주기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6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사건 카드 4장 이미지(해방·정부 수립·전쟁·정전)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Malgun Gothic"/>
                <a:ea typeface="Malgun Gothic"/>
              </a:rPr>
              <a:t>삶의 질문으로 비교해요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나라마다 내 하루는 어떻게 달라질까요?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2377C4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지도자와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직업·재산·시장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말·정보·이동·예배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11분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삶의 질문으로 비교해요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59461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2593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지도자와 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F2A37"/>
                </a:solidFill>
                <a:latin typeface="Malgun Gothic"/>
                <a:ea typeface="Malgun Gothic"/>
              </a:rPr>
              <a:t>반장이 잘못하면 바꿀 수 있을까요?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2377C4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2770632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770632"/>
            <a:ext cx="23774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우리 반 이야기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1F2A37"/>
                </a:solidFill>
                <a:latin typeface="Malgun Gothic"/>
                <a:ea typeface="Malgun Gothic"/>
              </a:rPr>
              <a:t>우리 반 </a:t>
            </a:r>
            <a:r>
              <a:rPr sz="3600" b="1">
                <a:solidFill>
                  <a:srgbClr val="2377C4"/>
                </a:solidFill>
                <a:latin typeface="Malgun Gothic"/>
                <a:ea typeface="Malgun Gothic"/>
              </a:rPr>
              <a:t>반장이 잘못</a:t>
            </a:r>
            <a:r>
              <a:rPr sz="3600" b="1">
                <a:solidFill>
                  <a:srgbClr val="1F2A37"/>
                </a:solidFill>
                <a:latin typeface="Malgun Gothic"/>
                <a:ea typeface="Malgun Gothic"/>
              </a:rPr>
              <a:t>했을 때, </a:t>
            </a:r>
            <a:r>
              <a:rPr sz="3600" b="1">
                <a:solidFill>
                  <a:srgbClr val="2377C4"/>
                </a:solidFill>
                <a:latin typeface="Malgun Gothic"/>
                <a:ea typeface="Malgun Gothic"/>
              </a:rPr>
              <a:t>바꿀 수 있나요?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선거로 뽑았다면 → 다시 투표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바꿀 수 없다면 → 어떤 일이 생길까?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삶의 질문으로 비교해요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59461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2593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지도자와 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F2A37"/>
                </a:solidFill>
                <a:latin typeface="Malgun Gothic"/>
                <a:ea typeface="Malgun Gothic"/>
              </a:rPr>
              <a:t>반장도 학급 규칙을 따라야 할까요?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규칙은 모두에게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반장도 예외가 아니에요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064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잘못은 공개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1792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말하고 고칠 수 있어요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5488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Malgun Gothic"/>
                <a:ea typeface="Malgun Gothic"/>
              </a:rPr>
              <a:t>힘이 한 사람에게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5215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규칙이 흔들릴 수 있어요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법치</a:t>
            </a: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: 지도자도 법을 따른다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삶의 질문으로 비교해요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948939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0802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직업·재산·시장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3A2A20"/>
                </a:solidFill>
                <a:latin typeface="Malgun Gothic"/>
                <a:ea typeface="Malgun Gothic"/>
              </a:rPr>
              <a:t>교실 매점 게임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377C4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3분 · 과자 카드·연필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2377C4"/>
                </a:solidFill>
                <a:latin typeface="Malgun Gothic"/>
                <a:ea typeface="Malgun Gothic"/>
              </a:rPr>
              <a:t>1.</a:t>
            </a:r>
            <a:r>
              <a:rPr sz="2200" b="0">
                <a:solidFill>
                  <a:srgbClr val="3A2A20"/>
                </a:solidFill>
                <a:latin typeface="Malgun Gothic"/>
                <a:ea typeface="Malgun Gothic"/>
              </a:rPr>
              <a:t> A모둠: </a:t>
            </a:r>
            <a:r>
              <a:rPr sz="2200" b="1">
                <a:solidFill>
                  <a:srgbClr val="2377C4"/>
                </a:solidFill>
                <a:latin typeface="Malgun Gothic"/>
                <a:ea typeface="Malgun Gothic"/>
              </a:rPr>
              <a:t>선생님이 정한</a:t>
            </a:r>
            <a:r>
              <a:rPr sz="2200" b="0">
                <a:solidFill>
                  <a:srgbClr val="3A2A20"/>
                </a:solidFill>
                <a:latin typeface="Malgun Gothic"/>
                <a:ea typeface="Malgun Gothic"/>
              </a:rPr>
              <a:t> 물건·가격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2377C4"/>
                </a:solidFill>
                <a:latin typeface="Malgun Gothic"/>
                <a:ea typeface="Malgun Gothic"/>
              </a:rPr>
              <a:t>2.</a:t>
            </a:r>
            <a:r>
              <a:rPr sz="2200" b="0">
                <a:solidFill>
                  <a:srgbClr val="3A2A20"/>
                </a:solidFill>
                <a:latin typeface="Malgun Gothic"/>
                <a:ea typeface="Malgun Gothic"/>
              </a:rPr>
              <a:t> B모둠: </a:t>
            </a:r>
            <a:r>
              <a:rPr sz="2200" b="1">
                <a:solidFill>
                  <a:srgbClr val="2377C4"/>
                </a:solidFill>
                <a:latin typeface="Malgun Gothic"/>
                <a:ea typeface="Malgun Gothic"/>
              </a:rPr>
              <a:t>모둠이 직접</a:t>
            </a:r>
            <a:r>
              <a:rPr sz="2200" b="0">
                <a:solidFill>
                  <a:srgbClr val="3A2A20"/>
                </a:solidFill>
                <a:latin typeface="Malgun Gothic"/>
                <a:ea typeface="Malgun Gothic"/>
              </a:rPr>
              <a:t> 정하고 거래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2377C4"/>
                </a:solidFill>
                <a:latin typeface="Malgun Gothic"/>
                <a:ea typeface="Malgun Gothic"/>
              </a:rPr>
              <a:t>3.</a:t>
            </a:r>
            <a:r>
              <a:rPr sz="2200" b="0">
                <a:solidFill>
                  <a:srgbClr val="3A2A20"/>
                </a:solidFill>
                <a:latin typeface="Malgun Gothic"/>
                <a:ea typeface="Malgun Gothic"/>
              </a:rPr>
              <a:t> "누가 정했을 때 더 신나요?" 이유 말하기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2377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교실 물건(연필·스티커)을 사고파는 교실 풍경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삶의 질문으로 비교해요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948939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0802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직업·재산·시장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3A2A20"/>
                </a:solidFill>
                <a:latin typeface="Malgun Gothic"/>
                <a:ea typeface="Malgun Gothic"/>
              </a:rPr>
              <a:t>직업을 스스로 고를 수 있을까요?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대한민국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3A2A20"/>
                </a:solidFill>
                <a:latin typeface="Malgun Gothic"/>
                <a:ea typeface="Malgun Gothic"/>
              </a:rPr>
              <a:t>•  직업을 </a:t>
            </a:r>
            <a:r>
              <a:rPr sz="2300" b="1">
                <a:solidFill>
                  <a:srgbClr val="2377C4"/>
                </a:solidFill>
                <a:latin typeface="Malgun Gothic"/>
                <a:ea typeface="Malgun Gothic"/>
              </a:rPr>
              <a:t>스스로 선택</a:t>
            </a:r>
            <a:r>
              <a:rPr sz="2300" b="0">
                <a:solidFill>
                  <a:srgbClr val="3A2A20"/>
                </a:solidFill>
                <a:latin typeface="Malgun Gothic"/>
                <a:ea typeface="Malgun Gothic"/>
              </a:rPr>
              <a:t>해요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3A2A20"/>
                </a:solidFill>
                <a:latin typeface="Malgun Gothic"/>
                <a:ea typeface="Malgun Gothic"/>
              </a:rPr>
              <a:t>•  노력과 선택이 삶에 영향을 줘요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북한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3A2A20"/>
                </a:solidFill>
                <a:latin typeface="Malgun Gothic"/>
                <a:ea typeface="Malgun Gothic"/>
              </a:rPr>
              <a:t>•  국가 </a:t>
            </a:r>
            <a:r>
              <a:rPr sz="2300" b="1">
                <a:solidFill>
                  <a:srgbClr val="C93A6A"/>
                </a:solidFill>
                <a:latin typeface="Malgun Gothic"/>
                <a:ea typeface="Malgun Gothic"/>
              </a:rPr>
              <a:t>배치</a:t>
            </a:r>
            <a:r>
              <a:rPr sz="2300" b="0">
                <a:solidFill>
                  <a:srgbClr val="3A2A20"/>
                </a:solidFill>
                <a:latin typeface="Malgun Gothic"/>
                <a:ea typeface="Malgun Gothic"/>
              </a:rPr>
              <a:t>가 큰 역할을 해요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300" b="0">
                <a:solidFill>
                  <a:srgbClr val="3A2A20"/>
                </a:solidFill>
                <a:latin typeface="Malgun Gothic"/>
                <a:ea typeface="Malgun Gothic"/>
              </a:rPr>
              <a:t>•  시장(장마당) 활동도 함께 있어요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삶의 질문으로 비교해요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30327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43458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말·정보·이동·예배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남북의 하루를 비교하는 여섯 가지 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23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542032"/>
          <a:ext cx="11091670" cy="379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635"/>
                <a:gridCol w="3593076"/>
                <a:gridCol w="4217959"/>
              </a:tblGrid>
              <a:tr h="542108"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질문</a:t>
                      </a:r>
                    </a:p>
                  </a:txBody>
                  <a:tcPr marL="91440" marR="91440" marT="27432" marB="27432" anchor="ctr">
                    <a:solidFill>
                      <a:srgbClr val="237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대한민국</a:t>
                      </a:r>
                    </a:p>
                  </a:txBody>
                  <a:tcPr marL="91440" marR="91440" marT="27432" marB="27432" anchor="ctr">
                    <a:solidFill>
                      <a:srgbClr val="237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북한</a:t>
                      </a:r>
                    </a:p>
                  </a:txBody>
                  <a:tcPr marL="91440" marR="91440" marT="27432" marB="27432" anchor="ctr">
                    <a:solidFill>
                      <a:srgbClr val="C93A6A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지도자를 바꾸나?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선거로 바꿀 수 있어요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선거는 있어도 후보를 고를 수 없어요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정부를 비판하나?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말할 수 있어요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비판하면 처벌될 수 있어요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다른 정보를 보나?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자유롭게 찾아요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외부 영상·노래는 처벌될 수 있어요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마음대로 이동하나?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자유롭게 가요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허가가 필요해요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직업을 고르나?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스스로 선택해요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국가 배치가 많아요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예배할 수 있나?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자유로워요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법에는 있으나 현실에서 제한돼요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삶의 질문으로 비교해요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377C4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303270" cy="402336"/>
          </a:xfrm>
          <a:prstGeom prst="roundRect">
            <a:avLst>
              <a:gd name="adj" fmla="val 45454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43458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말·정보·이동·예배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3A2A20"/>
                </a:solidFill>
                <a:latin typeface="Malgun Gothic"/>
                <a:ea typeface="Malgun Gothic"/>
              </a:rPr>
              <a:t>오늘 나는 몇 번 선택했나요?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377C4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•  아침: 무엇을 </a:t>
            </a:r>
            <a:r>
              <a:rPr sz="2400" b="1">
                <a:solidFill>
                  <a:srgbClr val="2377C4"/>
                </a:solidFill>
                <a:latin typeface="Malgun Gothic"/>
                <a:ea typeface="Malgun Gothic"/>
              </a:rPr>
              <a:t>먹을지</a:t>
            </a: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 골랐어요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•  수업: 궁금한 것을 </a:t>
            </a:r>
            <a:r>
              <a:rPr sz="2400" b="1">
                <a:solidFill>
                  <a:srgbClr val="2377C4"/>
                </a:solidFill>
                <a:latin typeface="Malgun Gothic"/>
                <a:ea typeface="Malgun Gothic"/>
              </a:rPr>
              <a:t>질문</a:t>
            </a: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했어요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•  방과 후: </a:t>
            </a:r>
            <a:r>
              <a:rPr sz="2400" b="1">
                <a:solidFill>
                  <a:srgbClr val="2377C4"/>
                </a:solidFill>
                <a:latin typeface="Malgun Gothic"/>
                <a:ea typeface="Malgun Gothic"/>
              </a:rPr>
              <a:t>누구와</a:t>
            </a: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 놀지 정했어요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•  일요일: </a:t>
            </a:r>
            <a:r>
              <a:rPr sz="2400" b="1">
                <a:solidFill>
                  <a:srgbClr val="2377C4"/>
                </a:solidFill>
                <a:latin typeface="Malgun Gothic"/>
                <a:ea typeface="Malgun Gothic"/>
              </a:rPr>
              <a:t>교회에 갈지</a:t>
            </a:r>
            <a:r>
              <a:rPr sz="2400" b="0">
                <a:solidFill>
                  <a:srgbClr val="3A2A20"/>
                </a:solidFill>
                <a:latin typeface="Malgun Gothic"/>
                <a:ea typeface="Malgun Gothic"/>
              </a:rPr>
              <a:t> 스스로 정해요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2377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학생 하루 타임라인 일러스트(아침·학교·방과후·주일)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Malgun Gothic"/>
                <a:ea typeface="Malgun Gothic"/>
              </a:rPr>
              <a:t>어떤 통일이 좋은 통일일까?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통일이 좋은가? 보다 어떤 통일이 좋은가?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C93A6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통일하면 좋아지는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통일하면 힘든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좋은 통일의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10분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어떤 통일이 좋은 통일일까?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634740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7660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통일하면 좋아지는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3A2A20"/>
                </a:solidFill>
                <a:latin typeface="Malgun Gothic"/>
                <a:ea typeface="Malgun Gothic"/>
              </a:rPr>
              <a:t>헤어진 가족을 다시 만나요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3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이산가족 상봉 행사의 포옹 장면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3A2A20"/>
                </a:solidFill>
                <a:latin typeface="Malgun Gothic"/>
                <a:ea typeface="Malgun Gothic"/>
              </a:rPr>
              <a:t>이산가족의 만남, 끊어진 길의 연결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어떤 통일이 좋은 통일일까?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634740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7660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통일하면 좋아지는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3A2A20"/>
                </a:solidFill>
                <a:latin typeface="Malgun Gothic"/>
                <a:ea typeface="Malgun Gothic"/>
              </a:rPr>
              <a:t>새로운 길과 새로운 직업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DMZ 생태·평화 안내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자연과 평화를 배우는 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8708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남북 통합 전문가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8436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언어·문화 이해를 돕는 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환경 컨설턴트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자연 복구와 개발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8844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한반도 물류 전문가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8572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대륙과 바다를 잇는 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새로운 이동 · 교류 · 직업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어떤 통일이 좋은 통일일까?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177539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3088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통일하면 힘든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통일하면 힘든 것은 없을까요?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경제 격차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C8C6EA"/>
                </a:solidFill>
                <a:latin typeface="Malgun Gothic"/>
                <a:ea typeface="Malgun Gothic"/>
              </a:rPr>
              <a:t>생활 수준 차이가 커요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8708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8436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C8C6EA"/>
                </a:solidFill>
                <a:latin typeface="Malgun Gothic"/>
                <a:ea typeface="Malgun Gothic"/>
              </a:rPr>
              <a:t>누가 얼마나 부담할까요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사회 갈등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C8C6EA"/>
                </a:solidFill>
                <a:latin typeface="Malgun Gothic"/>
                <a:ea typeface="Malgun Gothic"/>
              </a:rPr>
              <a:t>서로 다른 제도와 생활방식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8844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적응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8572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C8C6EA"/>
                </a:solidFill>
                <a:latin typeface="Malgun Gothic"/>
                <a:ea typeface="Malgun Gothic"/>
              </a:rPr>
              <a:t>교육·법·일자리가 달라요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함께 산다는 것은 이익만이 아니라 </a:t>
            </a: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책임을 나누는 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어떤 통일이 좋은 통일일까?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177539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3088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좋은 통일의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Malgun Gothic"/>
                <a:ea typeface="Malgun Gothic"/>
              </a:rPr>
              <a:t>어떤 통일이 좋은 통일일까요?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B2430"/>
                </a:solidFill>
                <a:latin typeface="Malgun Gothic"/>
                <a:ea typeface="Malgun Gothic"/>
              </a:rPr>
              <a:t>자유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생각과 선택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35352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18232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8232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5080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B2430"/>
                </a:solidFill>
                <a:latin typeface="Malgun Gothic"/>
                <a:ea typeface="Malgun Gothic"/>
              </a:rPr>
              <a:t>인권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5080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사람의 존엄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2064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1792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B2430"/>
                </a:solidFill>
                <a:latin typeface="Malgun Gothic"/>
                <a:ea typeface="Malgun Gothic"/>
              </a:rPr>
              <a:t>법치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1792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지도자도 법 아래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6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B2430"/>
                </a:solidFill>
                <a:latin typeface="Malgun Gothic"/>
                <a:ea typeface="Malgun Gothic"/>
              </a:rPr>
              <a:t>안전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전쟁 없는 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5488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5215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B2430"/>
                </a:solidFill>
                <a:latin typeface="Malgun Gothic"/>
                <a:ea typeface="Malgun Gothic"/>
              </a:rPr>
              <a:t>참여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5215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북한 주민이 함께 결정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82200" y="2542032"/>
            <a:ext cx="1658112" cy="3840480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65079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5079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91927" y="3319272"/>
            <a:ext cx="1438656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1B2430"/>
                </a:solidFill>
                <a:latin typeface="Malgun Gothic"/>
                <a:ea typeface="Malgun Gothic"/>
              </a:rPr>
              <a:t>책임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91927" y="4325112"/>
            <a:ext cx="1438656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비용을 나누는 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어떤 통일이 좋은 통일일까?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C93A6A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3177539" cy="402336"/>
          </a:xfrm>
          <a:prstGeom prst="roundRect">
            <a:avLst>
              <a:gd name="adj" fmla="val 45454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23088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좋은 통일의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1F2A37"/>
                </a:solidFill>
                <a:latin typeface="Malgun Gothic"/>
                <a:ea typeface="Malgun Gothic"/>
              </a:rPr>
              <a:t>나의 좋은 통일 조건 3장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4000"/>
            </a:srgbClr>
          </a:solidFill>
          <a:ln w="19050">
            <a:solidFill>
              <a:srgbClr val="C93A6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4분 · 조건 카드 6종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C93A6A"/>
                </a:solidFill>
                <a:latin typeface="Malgun Gothic"/>
                <a:ea typeface="Malgun Gothic"/>
              </a:rPr>
              <a:t>1.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조건 카드 중 </a:t>
            </a:r>
            <a:r>
              <a:rPr sz="2200" b="1">
                <a:solidFill>
                  <a:srgbClr val="C93A6A"/>
                </a:solidFill>
                <a:latin typeface="Malgun Gothic"/>
                <a:ea typeface="Malgun Gothic"/>
              </a:rPr>
              <a:t>가장 중요한 3장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고르기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C93A6A"/>
                </a:solidFill>
                <a:latin typeface="Malgun Gothic"/>
                <a:ea typeface="Malgun Gothic"/>
              </a:rPr>
              <a:t>2.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이유를 </a:t>
            </a:r>
            <a:r>
              <a:rPr sz="2200" b="1">
                <a:solidFill>
                  <a:srgbClr val="C93A6A"/>
                </a:solidFill>
                <a:latin typeface="Malgun Gothic"/>
                <a:ea typeface="Malgun Gothic"/>
              </a:rPr>
              <a:t>한 문장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으로 쓰기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1">
                <a:solidFill>
                  <a:srgbClr val="C93A6A"/>
                </a:solidFill>
                <a:latin typeface="Malgun Gothic"/>
                <a:ea typeface="Malgun Gothic"/>
              </a:rPr>
              <a:t>3.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 모둠에서 </a:t>
            </a:r>
            <a:r>
              <a:rPr sz="2200" b="1">
                <a:solidFill>
                  <a:srgbClr val="C93A6A"/>
                </a:solidFill>
                <a:latin typeface="Malgun Gothic"/>
                <a:ea typeface="Malgun Gothic"/>
              </a:rPr>
              <a:t>다른 의견</a:t>
            </a:r>
            <a:r>
              <a:rPr sz="2200" b="0">
                <a:solidFill>
                  <a:srgbClr val="1F2A37"/>
                </a:solidFill>
                <a:latin typeface="Malgun Gothic"/>
                <a:ea typeface="Malgun Gothic"/>
              </a:rPr>
              <a:t>을 듣고 하나 더하기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C93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조건 카드 6종 인쇄물(자유·인권·법치·안전·참여·책임)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Malgun Gothic"/>
                <a:ea typeface="Malgun Gothic"/>
              </a:rPr>
              <a:t>나의 다짐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통일이 내 시대에 온다면 나는 무엇을 할 수 있을까?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6E55C2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준비된 사람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F2A37"/>
                </a:solidFill>
                <a:latin typeface="Malgun Gothic"/>
                <a:ea typeface="Malgun Gothic"/>
              </a:rPr>
              <a:t>오늘의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4분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나의 다짐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6E55C2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594610" cy="402336"/>
          </a:xfrm>
          <a:prstGeom prst="roundRect">
            <a:avLst>
              <a:gd name="adj" fmla="val 45454"/>
            </a:avLst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2593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준비된 사람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통일이 오면 나는 무엇을 할 수 있을까?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의사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F3D9B0"/>
                </a:solidFill>
                <a:latin typeface="Malgun Gothic"/>
                <a:ea typeface="Malgun Gothic"/>
              </a:rPr>
              <a:t>다친 사람을 치료해요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2694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95574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557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422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교사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2422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F3D9B0"/>
                </a:solidFill>
                <a:latin typeface="Malgun Gothic"/>
                <a:ea typeface="Malgun Gothic"/>
              </a:rPr>
              <a:t>아이들을 가르쳐요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6748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59628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962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6476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법률가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6476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F3D9B0"/>
                </a:solidFill>
                <a:latin typeface="Malgun Gothic"/>
                <a:ea typeface="Malgun Gothic"/>
              </a:rPr>
              <a:t>공정한 규칙을 세워요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40803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23683" y="2724912"/>
            <a:ext cx="502920" cy="502920"/>
          </a:xfrm>
          <a:prstGeom prst="ellipse">
            <a:avLst/>
          </a:prstGeom>
          <a:solidFill>
            <a:srgbClr val="237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23683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0531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기술자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0531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F3D9B0"/>
                </a:solidFill>
                <a:latin typeface="Malgun Gothic"/>
                <a:ea typeface="Malgun Gothic"/>
              </a:rPr>
              <a:t>길과 건물을 지어요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4857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87737" y="2724912"/>
            <a:ext cx="502920" cy="502920"/>
          </a:xfrm>
          <a:prstGeom prst="ellipse">
            <a:avLst/>
          </a:prstGeom>
          <a:solidFill>
            <a:srgbClr val="C9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773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4585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목회자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4585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F3D9B0"/>
                </a:solidFill>
                <a:latin typeface="Malgun Gothic"/>
                <a:ea typeface="Malgun Gothic"/>
              </a:rPr>
              <a:t>사람을 위로해요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대주제 · 나의 다짐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6E55C2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097280"/>
            <a:ext cx="2594610" cy="402336"/>
          </a:xfrm>
          <a:prstGeom prst="roundRect">
            <a:avLst>
              <a:gd name="adj" fmla="val 45454"/>
            </a:avLst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1097280"/>
            <a:ext cx="172593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오늘의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>
                <a:solidFill>
                  <a:srgbClr val="3A2A20"/>
                </a:solidFill>
                <a:latin typeface="Malgun Gothic"/>
                <a:ea typeface="Malgun Gothic"/>
              </a:rPr>
              <a:t>오늘 기억할 세 가지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A6253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분단은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사람·가족·길의 문제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064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04944" y="2724912"/>
            <a:ext cx="502920" cy="5029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494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1792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제도는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1792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한 사람의 하루를 바꿔요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5488" y="2542032"/>
            <a:ext cx="3544824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8367" y="2724912"/>
            <a:ext cx="502920" cy="502920"/>
          </a:xfrm>
          <a:prstGeom prst="ellipse">
            <a:avLst/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836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5215" y="3319272"/>
            <a:ext cx="332536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>
                <a:solidFill>
                  <a:srgbClr val="3A2A20"/>
                </a:solidFill>
                <a:latin typeface="Malgun Gothic"/>
                <a:ea typeface="Malgun Gothic"/>
              </a:rPr>
              <a:t>좋은 통일은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5215" y="4325112"/>
            <a:ext cx="3325368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4B5560"/>
                </a:solidFill>
                <a:latin typeface="Malgun Gothic"/>
                <a:ea typeface="Malgun Gothic"/>
              </a:rPr>
              <a:t>자유·인권·법치·안전을 지켜요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6E5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북한 정권은 평가의 대상, 북한 주민은 </a:t>
            </a: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함께 살아갈 사람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463040"/>
            <a:ext cx="9418320" cy="3657600"/>
          </a:xfrm>
          <a:prstGeom prst="roundRect">
            <a:avLst>
              <a:gd name="adj" fmla="val 875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869680" cy="1737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400" b="1">
                <a:solidFill>
                  <a:srgbClr val="1F8A5B"/>
                </a:solidFill>
                <a:latin typeface="Malgun Gothic"/>
                <a:ea typeface="Malgun Gothic"/>
              </a:rPr>
              <a:t>감사</a:t>
            </a:r>
            <a:r>
              <a:rPr sz="5400" b="1">
                <a:solidFill>
                  <a:srgbClr val="1F2A37"/>
                </a:solidFill>
                <a:latin typeface="Malgun Gothic"/>
                <a:ea typeface="Malgun Gothic"/>
              </a:rPr>
              <a:t>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566160"/>
            <a:ext cx="886968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5B6773"/>
                </a:solidFill>
                <a:latin typeface="Malgun Gothic"/>
                <a:ea typeface="Malgun Gothic"/>
              </a:rPr>
              <a:t>통일이 언제 올지는 모르지만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5B6773"/>
                </a:solidFill>
                <a:latin typeface="Malgun Gothic"/>
                <a:ea typeface="Malgun Gothic"/>
              </a:rPr>
              <a:t>준비된 사람이 될지는 </a:t>
            </a:r>
            <a:r>
              <a:rPr sz="2200" b="1">
                <a:solidFill>
                  <a:srgbClr val="5B6773"/>
                </a:solidFill>
                <a:latin typeface="Malgun Gothic"/>
                <a:ea typeface="Malgun Gothic"/>
              </a:rPr>
              <a:t>오늘</a:t>
            </a:r>
            <a:r>
              <a:rPr sz="2200" b="0">
                <a:solidFill>
                  <a:srgbClr val="5B6773"/>
                </a:solidFill>
                <a:latin typeface="Malgun Gothic"/>
                <a:ea typeface="Malgun Gothic"/>
              </a:rPr>
              <a:t> 정할 수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초등 고학년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