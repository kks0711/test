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표지</a:t>
            </a:r>
          </a:p>
          <a:p>
            <a:r>
              <a:t>【배경】CONTOUR — 어두운 등고선: 지정학·안보·경로 분석. 지도·화살표 도식이 선명</a:t>
            </a:r>
          </a:p>
          <a:p>
            <a:r>
              <a:t>【진행·멘트】입장 시 스크린에 오프닝 설문 QR을 띄웁니다(1-1).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도입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【미디어】[사진] 강사 프로필 사진(선택)</a:t>
            </a:r>
          </a:p>
          <a:p>
            <a:r>
              <a:t>  ▸ 준비: 어두운 배경에 어울리는 단정한 정면 사진</a:t>
            </a:r>
          </a:p>
          <a:p>
            <a:r>
              <a:t>【진행·멘트】강사 소개 1분. "통일의 수혜자가 아닌 설계자" 관점을 선언합니다.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도입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【진행·멘트】세 목표는 마지막 8파트의 설계안 작성으로 수렴합니다.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도입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【진행·멘트】8개 대주제. 이 수업은 "분석(Ⅱ~Ⅵ) → 설계(Ⅶ) → 소명(Ⅷ)"의 구조입니다. 대주제마다 색이 바뀝니다.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출발: 사람과 질문 ▸ 중주제 (대주제 전환) 출발: 사람과 질문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【진행·멘트】이번 파트는 수업의 기준점 8분입니다.</a:t>
            </a:r>
          </a:p>
          <a:p>
            <a:r>
              <a:t>【시간】약 8분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출발: 사람과 질문 ▸ 중주제 1-1 나의 출발점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【진행·멘트】사전 응답은 수업 후 비교의 기준입니다. 평가가 아니라 사고가 깊어지는지를 보기 위함입니다.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출발: 사람과 질문 ▸ 중주제 1-1 나의 출발점</a:t>
            </a:r>
          </a:p>
          <a:p>
            <a:r>
              <a:t>【배경】DUSK — 짙은 남보라: 사람의 삶·인권 등 감정이 실리는 장면. 사진 몰입도 상승</a:t>
            </a:r>
          </a:p>
          <a:p>
            <a:r>
              <a:t>【미디어】[사진] NASA 한반도 야경 위성사진</a:t>
            </a:r>
          </a:p>
          <a:p>
            <a:r>
              <a:t>  ▸ 준비: NASA Earth Observatory 공개 이미지(퍼블릭 도메인), 출처·촬영연도 표기. 서울·평양 위치 라벨만 얇게 표시</a:t>
            </a:r>
          </a:p>
          <a:p>
            <a:r>
              <a:t>【진행·멘트】학생의 첫 가설을 3개 받고 칠판에 기록합니다. 수업 마지막에 가설을 다시 확인합니다.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출발: 사람과 질문 ▸ 중주제 1-2 세 가지 기본 약속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【진행·멘트】구속사적 관점은 별도 단원이 아니라 사람·권력·자유·책임을 읽는 수업 전체의 해석 틀입니다. 역사적 사실은 사실대로 다룹니다.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출발: 사람과 질문 ▸ 중주제 1-2 세 가지 기본 약속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【진행·멘트】북한 주민은 통일의 장애물이 아니며 통일 이후 관리의 대상도 아닙니다. 미래 한반도의 공동주체입니다.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분단의 인과 분석 ▸ 중주제 (대주제 전환) 분단의 인과 분석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【진행·멘트】분석 도구 하나: 외부 요인 / 내부 요인 / 시작 / 유지.</a:t>
            </a:r>
          </a:p>
          <a:p>
            <a:r>
              <a:t>【시간】약 12분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분단의 인과 분석 ▸ 중주제 2-1 해방 공간의 갈림길</a:t>
            </a:r>
          </a:p>
          <a:p>
            <a:r>
              <a:t>【배경】CONTOUR — 어두운 등고선: 지정학·안보·경로 분석. 지도·화살표 도식이 선명</a:t>
            </a:r>
          </a:p>
          <a:p>
            <a:r>
              <a:t>【진행·멘트】한 줄 연표를 넘어서 갈림길마다 닫힌 선택지를 묻습니다. 일부 사실은 학술적 해석이 갈리므로 해석 차이를 구분해 말합니다.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분단의 인과 분석 ▸ 중주제 2-1 해방 공간의 갈림길</a:t>
            </a:r>
          </a:p>
          <a:p>
            <a:r>
              <a:t>【배경】CONTOUR — 어두운 등고선: 지정학·안보·경로 분석. 지도·화살표 도식이 선명</a:t>
            </a:r>
          </a:p>
          <a:p>
            <a:r>
              <a:t>【진행·멘트】외부 요인만 강조하면 우리의 선택이 사라지고 내부 요인만 강조하면 국제 환경이 사라집니다. 하나의 원인, 하나의 책임으로 설명하지 않습니다.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분단의 인과 분석 ▸ 중주제 2-1 해방 공간의 갈림길</a:t>
            </a:r>
          </a:p>
          <a:p>
            <a:r>
              <a:t>【배경】CONTOUR — 어두운 등고선: 지정학·안보·경로 분석. 지도·화살표 도식이 선명</a:t>
            </a:r>
          </a:p>
          <a:p>
            <a:r>
              <a:t>【진행·멘트】정답이 아니라 설명의 범위와 한계를 말하게 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분단의 인과 분석 ▸ 중주제 2-2 전쟁과 정전체제</a:t>
            </a:r>
          </a:p>
          <a:p>
            <a:r>
              <a:t>【배경】CONTOUR — 어두운 등고선: 지정학·안보·경로 분석. 지도·화살표 도식이 선명</a:t>
            </a:r>
          </a:p>
          <a:p>
            <a:r>
              <a:t>【진행·멘트】정전협정의 당사자와 구조(유엔군사령부·북한·중국)는 심화 질문으로 준비합니다.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분단의 인과 분석 ▸ 중주제 2-2 전쟁과 정전체제</a:t>
            </a:r>
          </a:p>
          <a:p>
            <a:r>
              <a:t>【배경】CONTOUR — 어두운 등고선: 지정학·안보·경로 분석. 지도·화살표 도식이 선명</a:t>
            </a:r>
          </a:p>
          <a:p>
            <a:r>
              <a:t>【미디어】[지도] 38선 vs 군사분계선(MDL) 겹침 지도 + DMZ 폭 표시</a:t>
            </a:r>
          </a:p>
          <a:p>
            <a:r>
              <a:t>  ▸ 준비: 38선(점선)·MDL(실선) 색 구분. DMZ는 MDL 남북 각 2km, 폭 약 4km·길이 약 248km 표기. 위키미디어 공용 지도 위에 직접 편집</a:t>
            </a:r>
          </a:p>
          <a:p>
            <a:r>
              <a:t>【진행·멘트】DMZ는 군사적 긴장과 생태 보전의 이중성을 지닙니다.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분단의 인과 분석 ▸ 중주제 2-3 시작과 유지</a:t>
            </a:r>
          </a:p>
          <a:p>
            <a:r>
              <a:t>【배경】CONTOUR — 어두운 등고선: 지정학·안보·경로 분석. 지도·화살표 도식이 선명</a:t>
            </a:r>
          </a:p>
          <a:p>
            <a:r>
              <a:t>【진행·멘트】분단은 단순한 지역분리가 아니라 체제분단입니다. 시작의 책임과 유지의 책임을 같은 방식으로 묻지 않습니다.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북한 권력체제의 구조 ▸ 중주제 (대주제 전환) 북한 권력체제의 구조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【진행·멘트】형식(헌법·조직)과 실제(권력의 작동)를 구분하는 눈을 기릅니다.</a:t>
            </a:r>
          </a:p>
          <a:p>
            <a:r>
              <a:t>【시간】약 12분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북한 권력체제의 구조 ▸ 중주제 3-1 당·국가·최고지도자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【진행·멘트】두 층위를 구분하는 방식으로 설명합니다. 용어(유일적 영도체계)는 설명 없이 던지지 않고 한 줄 정의를 곁들입니다.</a:t>
            </a:r>
          </a:p>
          <a:p>
            <a:r>
              <a:t>【시간】약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북한 권력체제의 구조 ▸ 중주제 3-1 당·국가·최고지도자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【진행·멘트】선전용 표현을 그대로 따라 말하지 않도록 주의합니다. 사실 서술은 통일부 북한정보포털·국책연구기관 자료로 확인한 내용만 사용합니다.</a:t>
            </a:r>
          </a:p>
          <a:p>
            <a:r>
              <a:t>【시간】약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북한 권력체제의 구조 ▸ 중주제 3-2 공식 경제와 실제 생존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【진행·멘트】주민을 수동적 존재로만 보지 않고 제한된 조건 속에서 선택하고 가족을 지키려는 사람으로 보게 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북한 권력체제의 구조 ▸ 중주제 3-2 공식 경제와 실제 생존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【진행·멘트】사실관계는 통일부·한국은행·통일연구원 최신 자료로 교차 확인합니다.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북한 권력체제의 구조 ▸ 중주제 3-3 권력집중과 삶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【미디어】[인포그래픽] 권력 피라미드에서 개인의 하루까지 이어지는 흐름도</a:t>
            </a:r>
          </a:p>
          <a:p>
            <a:r>
              <a:t>  ▸ 준비: 당·국가 → 조직·감시 → 개인(정보·이동·직업·처벌) 4단 화살표 도식. 아이콘 중심, 인물 사진 사용 지양</a:t>
            </a:r>
          </a:p>
          <a:p>
            <a:r>
              <a:t>【진행·멘트】"북한은 억압적이다"로 끝내지 않고 제도 → 구조 → 삶으로 인과를 따라갑니다.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자유민주주의와 대한민국 ▸ 중주제 (대주제 전환) 자유민주주의와 대한민국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【진행·멘트】비교의 목적은 우열이 아니라 원리와 책임입니다.</a:t>
            </a:r>
          </a:p>
          <a:p>
            <a:r>
              <a:t>【시간】약 10분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자유민주주의와 대한민국 ▸ 중주제 4-1 원리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【진행·멘트】개념 정의를 먼저 암기시키지 않고 "나라의 주인은 누구인가?", "지도자를 바꿀 수 있는가?" 같은 질문으로 연결합니다.</a:t>
            </a:r>
          </a:p>
          <a:p>
            <a:r>
              <a:t>【시간】약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자유민주주의와 대한민국 ▸ 중주제 4-1 원리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【진행·멘트】북한의 형식적 선거와 헌법 조항은 문서와 현실의 차이로 설명합니다.</a:t>
            </a:r>
          </a:p>
          <a:p>
            <a:r>
              <a:t>【시간】약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자유민주주의와 대한민국 ▸ 중주제 4-2 자기교정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【진행·멘트】구체적 사례(제도 개선, 시민 참여 등)는 학교와 시기에 맞게 강사가 선택합니다. 특정 정치 사건의 평가는 피합니다.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자유민주주의와 대한민국 ▸ 중주제 4-3 한계를 직시하기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【진행·멘트】대한민국을 완전한 국가로 미화하지 않으면서, 자유를 우월감이 아닌 책임의 근거로 가르칩니다.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북한인권 ▸ 중주제 (대주제 전환) 북한인권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【진행·멘트】북한인권은 공격 목록이 아니라 사람에 대한 질문입니다.</a:t>
            </a:r>
          </a:p>
          <a:p>
            <a:r>
              <a:t>【시간】약 11분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북한인권 ▸ 중주제 5-1 한 사람의 삶</a:t>
            </a:r>
          </a:p>
          <a:p>
            <a:r>
              <a:t>【배경】DUSK — 짙은 남보라: 사람의 삶·인권 등 감정이 실리는 장면. 사진 몰입도 상승</a:t>
            </a:r>
          </a:p>
          <a:p>
            <a:r>
              <a:t>【진행·멘트】각 자유를 한 사람(가상 인물)의 하루와 연결해 설명합니다.</a:t>
            </a:r>
          </a:p>
          <a:p>
            <a:r>
              <a:t>【시간】약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북한인권 ▸ 중주제 5-1 한 사람의 삶</a:t>
            </a:r>
          </a:p>
          <a:p>
            <a:r>
              <a:t>【배경】DUSK — 짙은 남보라: 사람의 삶·인권 등 감정이 실리는 장면. 사진 몰입도 상승</a:t>
            </a:r>
          </a:p>
          <a:p>
            <a:r>
              <a:t>【미디어】[영상] 탈북민 증언 영상 3분(자막 포함)</a:t>
            </a:r>
          </a:p>
          <a:p>
            <a:r>
              <a:t>  ▸ 준비: 통일부 북한인권정보센터·탈북민 강연 자료 중 사용 허락이 확인된 영상. 상영 전 학생 정서 안내, 상영 후 1분 침묵</a:t>
            </a:r>
          </a:p>
          <a:p>
            <a:r>
              <a:t>【진행·멘트】북한 주민을 불쌍한 존재로만 소비하지 않고 선택·가족·꿈을 가진 한 사람으로 만납니다. 탈북민은 낯선 사람이 아니라 한 사람의 이웃입니다.</a:t>
            </a:r>
          </a:p>
          <a:p>
            <a:r>
              <a:t>【시간】약 4분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북한인권 ▸ 중주제 5-2 국제사회의 기록</a:t>
            </a:r>
          </a:p>
          <a:p>
            <a:r>
              <a:t>【배경】DUSK — 짙은 남보라: 사람의 삶·인권 등 감정이 실리는 장면. 사진 몰입도 상승</a:t>
            </a:r>
          </a:p>
          <a:p>
            <a:r>
              <a:t>【미디어】[사진] UN 인권이사회 회의장 / COI 보고서 표지</a:t>
            </a:r>
          </a:p>
          <a:p>
            <a:r>
              <a:t>  ▸ 준비: UN 공식 사진·문서 표지(출처 표기). 보고서 원문 링크를 QR로 제공</a:t>
            </a:r>
          </a:p>
          <a:p>
            <a:r>
              <a:t>【진행·멘트】출처 평가 원칙: 누가 어떤 방법으로 무엇을 근거로 말하는가? 반론이 있다면 함께 소개합니다.</a:t>
            </a:r>
          </a:p>
          <a:p>
            <a:r>
              <a:t>【시간】약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북한인권 ▸ 중주제 5-3 인권은 사람의 문제</a:t>
            </a:r>
          </a:p>
          <a:p>
            <a:r>
              <a:t>【배경】DUSK — 짙은 남보라: 사람의 삶·인권 등 감정이 실리는 장면. 사진 몰입도 상승</a:t>
            </a:r>
          </a:p>
          <a:p>
            <a:r>
              <a:t>【진행·멘트】이 문장을 함께 낭독합니다.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안보와 평화 ▸ 중주제 (대주제 전환) 안보와 평화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【진행·멘트】핵·억제·대화를 정치 구호가 아니라 구조로 다룹니다.</a:t>
            </a:r>
          </a:p>
          <a:p>
            <a:r>
              <a:t>【시간】약 8분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안보와 평화 ▸ 중주제 6-1 핵과 억제·대화</a:t>
            </a:r>
          </a:p>
          <a:p>
            <a:r>
              <a:t>【배경】CONTOUR — 어두운 등고선: 지정학·안보·경로 분석. 지도·화살표 도식이 선명</a:t>
            </a:r>
          </a:p>
          <a:p>
            <a:r>
              <a:t>【진행·멘트】핵 문제는 사실(핵실험 6회, 2006~2017)과 평가를 구분해 전달합니다.</a:t>
            </a:r>
          </a:p>
          <a:p>
            <a:r>
              <a:t>【시간】약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안보와 평화 ▸ 중주제 6-2 주변국의 이해</a:t>
            </a:r>
          </a:p>
          <a:p>
            <a:r>
              <a:t>【배경】CONTOUR — 어두운 등고선: 지정학·안보·경로 분석. 지도·화살표 도식이 선명</a:t>
            </a:r>
          </a:p>
          <a:p>
            <a:r>
              <a:t>【진행·멘트】각국의 이해를 단정하지 않고 "대체로 알려진 관점"으로 설명하며 자료 출처를 밝힙니다.</a:t>
            </a:r>
          </a:p>
          <a:p>
            <a:r>
              <a:t>【시간】약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안보와 평화 ▸ 중주제 6-3 평화의 정의</a:t>
            </a:r>
          </a:p>
          <a:p>
            <a:r>
              <a:t>【배경】CONTOUR — 어두운 등고선: 지정학·안보·경로 분석. 지도·화살표 도식이 선명</a:t>
            </a:r>
          </a:p>
          <a:p>
            <a:r>
              <a:t>【진행·멘트】평화를 소극적(충돌 부재) 개념에서 질서의 문제로 확장합니다.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통일 경로와 통일 이후의 설계 ▸ 중주제 (대주제 전환) 통일 경로와 통일 이후의 설계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【진행·멘트】설계 파트의 시작: 비용·경로·우선순위·주체.</a:t>
            </a:r>
          </a:p>
          <a:p>
            <a:r>
              <a:t>【시간】약 14분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통일 경로와 통일 이후의 설계 ▸ 중주제 7-1 비용과 기회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【진행·멘트】수치는 최신 공식 연구(통일부·KDI·통일연구원 등)에서 인용하고 추정 범위와 가정을 함께 제시합니다. 낙관도 두려움도 키우지 않습니다.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통일 경로와 통일 이후의 설계 ▸ 중주제 7-1 비용과 기회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【미디어】[사진] 베를린 장벽 개방(1989) 또는 통일 기념 장면</a:t>
            </a:r>
          </a:p>
          <a:p>
            <a:r>
              <a:t>  ▸ 준비: Bundesarchiv·위키미디어 공용 CC 이미지(출처·라이선스 표기). 장벽 위 시민 모습</a:t>
            </a:r>
          </a:p>
          <a:p>
            <a:r>
              <a:t>【진행·멘트】비용·사회갈등·정체성 문제에서 배울 점과, 격차·인구 비율·안보 환경이 다르다는 한계를 함께 짚습니다.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통일 경로와 통일 이후의 설계 ▸ 중주제 7-2 가능한 경로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【진행·멘트】평가 기준: 평화성 · 인권 · 법치 · 정당성(북한 주민의 참여) · 비용. 특정 경로를 정답으로 가르치지 않고 기준으로 검토합니다.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통일 경로와 통일 이후의 설계 ▸ 중주제 7-3 통일 이후 우선순위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【진행·멘트】열 가지 우선순위 후보 중 첫 다섯 개입니다. 다음 슬라이드의 나머지와 함께 활동에서 순위를 매깁니다.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통일 경로와 통일 이후의 설계 ▸ 중주제 7-3 통일 이후 우선순위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【진행·멘트】과거의 상처를 다루는 문제는 보복이 아닌 정의와 회복의 균형을 질문으로 던집니다.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통일 경로와 통일 이후의 설계 ▸ 중주제 7-3 통일 이후 우선순위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【미디어】[활동] 우선순위 카드 10종 인쇄물</a:t>
            </a:r>
          </a:p>
          <a:p>
            <a:r>
              <a:t>  ▸ 준비: 카드 앞면 제목, 뒷면 "이것이 늦어지면 생기는 위험". 모둠당 1세트와 순위 기록지</a:t>
            </a:r>
          </a:p>
          <a:p>
            <a:r>
              <a:t>【진행·멘트】정답은 없지만 이유에는 정합성이 필요합니다. "왜 이것이 먼저인가?" "무엇을 뒤로 미루는 대가는?"을 묻습니다.</a:t>
            </a:r>
          </a:p>
          <a:p>
            <a:r>
              <a:t>【시간】약 4분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통일 경로와 통일 이후의 설계 ▸ 중주제 7-4 공동결정 주체</a:t>
            </a:r>
          </a:p>
          <a:p>
            <a:r>
              <a:t>【배경】SLATE — 차콜 네이비 모눈: 분석·데이터·구조도. 고등 기본 배경</a:t>
            </a:r>
          </a:p>
          <a:p>
            <a:r>
              <a:t>【진행·멘트】북한 주민은 미래 한반도의 공동주체입니다. 설계 활동 때마다 "이 설계에서 북한 주민의 목소리는 어디에 있는가?"를 점검 질문으로 사용합니다.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나의 전공과 소명 ▸ 중주제 (대주제 전환) 나의 전공과 소명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【진행·멘트】마지막 파트: 분석에서 나의 이름으로.</a:t>
            </a:r>
          </a:p>
          <a:p>
            <a:r>
              <a:t>【시간】약 10분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나의 전공과 소명 ▸ 중주제 8-1 전공과 한반도</a:t>
            </a:r>
          </a:p>
          <a:p>
            <a:r>
              <a:t>【배경】DAWN — 남색→새벽빛 그라데이션: 소명·미래·결단. 마지막 파트 전용</a:t>
            </a:r>
          </a:p>
          <a:p>
            <a:r>
              <a:t>【진행·멘트】학생이 자기 전공에 해당하는 줄을 찾아 표시하게 합니다. 전공이 정해지지 않은 학생은 관심 분야를 한 줄 적습니다.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나의 전공과 소명 ▸ 중주제 8-2 미래설계안</a:t>
            </a:r>
          </a:p>
          <a:p>
            <a:r>
              <a:t>【배경】DAWN — 남색→새벽빛 그라데이션: 소명·미래·결단. 마지막 파트 전용</a:t>
            </a:r>
          </a:p>
          <a:p>
            <a:r>
              <a:t>【미디어】[활동] 미래설계안 양식(A4 1장) 예시 화면</a:t>
            </a:r>
          </a:p>
          <a:p>
            <a:r>
              <a:t>  ▸ 준비: 5칸: 문제 / 설계 / 반론 / 위험 / 북한 주민의 자리. 하단에 소명 연결문 3줄. 제출용·개인 소장용 2부</a:t>
            </a:r>
          </a:p>
          <a:p>
            <a:r>
              <a:t>【진행·멘트】결과물은 감상문이 아니라 자신의 판단과 미래설계입니다. 고등부 과정의 최종 산출물입니다.</a:t>
            </a:r>
          </a:p>
          <a:p>
            <a:r>
              <a:t>【시간】약 5분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나의 전공과 소명 ▸ 중주제 8-3 결단</a:t>
            </a:r>
          </a:p>
          <a:p>
            <a:r>
              <a:t>【배경】DAWN — 남색→새벽빛 그라데이션: 소명·미래·결단. 마지막 파트 전용</a:t>
            </a:r>
          </a:p>
          <a:p>
            <a:r>
              <a:t>【진행·멘트】10초 침묵 후 한두 명이 소명 연결문의 한 문장을 읽습니다.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나의 전공과 소명 ▸ 중주제 8-3 결단</a:t>
            </a:r>
          </a:p>
          <a:p>
            <a:r>
              <a:t>【배경】DAWN — 남색→새벽빛 그라데이션: 소명·미래·결단. 마지막 파트 전용</a:t>
            </a:r>
          </a:p>
          <a:p>
            <a:r>
              <a:t>【진행·멘트】오프닝 설문을 같은 문항으로 다시 열고 변화를 비교합니다.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나의 전공과 소명 ▸ 중주제 8-3 결단</a:t>
            </a:r>
          </a:p>
          <a:p>
            <a:r>
              <a:t>【배경】DAWN — 남색→새벽빛 그라데이션: 소명·미래·결단. 마지막 파트 전용</a:t>
            </a:r>
          </a:p>
          <a:p>
            <a:r>
              <a:t>【진행·멘트】함께 낭독하고 마무리합니다.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마무리</a:t>
            </a:r>
          </a:p>
          <a:p>
            <a:r>
              <a:t>【배경】DAWN — 남색→새벽빛 그라데이션: 소명·미래·결단. 마지막 파트 전용</a:t>
            </a:r>
          </a:p>
          <a:p>
            <a:r>
              <a:t>【진행·멘트】설계안을 모아 담임교사와 공유하고 다음 단계(3회·10회형) 안내로 이어갑니다.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O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371600"/>
            <a:ext cx="7498079" cy="4206240"/>
          </a:xfrm>
          <a:prstGeom prst="roundRect">
            <a:avLst>
              <a:gd name="adj" fmla="val 6521"/>
            </a:avLst>
          </a:prstGeom>
          <a:solidFill>
            <a:srgbClr val="0B1426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3000" y="1691640"/>
            <a:ext cx="2651760" cy="457200"/>
          </a:xfrm>
          <a:prstGeom prst="roundRect">
            <a:avLst>
              <a:gd name="adj" fmla="val 40000"/>
            </a:avLst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691640"/>
            <a:ext cx="26517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REBUILDER 통일교육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6949440" cy="2103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</a:rPr>
              <a:t>한반도 </a:t>
            </a:r>
            <a:r>
              <a:rPr sz="4800" b="1">
                <a:solidFill>
                  <a:srgbClr val="FFD479"/>
                </a:solidFill>
                <a:latin typeface="Malgun Gothic"/>
                <a:ea typeface="Malgun Gothic"/>
              </a:rPr>
              <a:t>미래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694944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9FB0C4"/>
                </a:solidFill>
                <a:latin typeface="Malgun Gothic"/>
                <a:ea typeface="Malgun Gothic"/>
              </a:rPr>
              <a:t>자유민주주의 · 북한인권 · 통일 이후의 질서와 나의 소명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371600"/>
            <a:ext cx="2743200" cy="4206240"/>
          </a:xfrm>
          <a:prstGeom prst="roundRect">
            <a:avLst>
              <a:gd name="adj" fmla="val 10000"/>
            </a:avLst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691640"/>
            <a:ext cx="27432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고등학생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468880"/>
            <a:ext cx="2560320" cy="2926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고등학생 1회 특강</a:t>
            </a:r>
          </a:p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80~90분</a:t>
            </a:r>
          </a:p>
          <a:p>
            <a:pPr algn="ctr">
              <a:lnSpc>
                <a:spcPct val="112000"/>
              </a:lnSpc>
              <a:spcAft>
                <a:spcPts val="800"/>
              </a:spcAft>
            </a:pPr>
          </a:p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수혜자가 아니라
책임 있는 설계자로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9FB0C4"/>
                </a:solidFill>
                <a:latin typeface="Malgun Gothic"/>
                <a:ea typeface="Malgun Gothic"/>
              </a:rPr>
              <a:t>제안: SEE-IT  |  자유와 사람을 위한 통일 — 구속사적 관점으로 배우는 한반도와 우리의 사명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강사 소개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332720" cy="4297680"/>
          </a:xfrm>
          <a:prstGeom prst="roundRect">
            <a:avLst>
              <a:gd name="adj" fmla="val 3829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80960" y="173736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18120" y="1874519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874519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2304288"/>
            <a:ext cx="2743200" cy="283463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9FB0C4"/>
                </a:solidFill>
                <a:latin typeface="Malgun Gothic"/>
                <a:ea typeface="Malgun Gothic"/>
              </a:rPr>
              <a:t>강사 프로필 사진(선택)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45920"/>
            <a:ext cx="6126480" cy="374903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이름</a:t>
            </a: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 : [강사 이름]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소속</a:t>
            </a: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 : SEE-IT · REBUILDER 통일교육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주제</a:t>
            </a: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 : 역사 · 체제 · 인권 · 안보 · 통일 이후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오늘 규칙</a:t>
            </a: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 : 주장에는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근거</a:t>
            </a: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, 근거에는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반론</a:t>
            </a: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이번 시간에는?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32720" cy="4480560"/>
          </a:xfrm>
          <a:prstGeom prst="roundRect">
            <a:avLst>
              <a:gd name="adj" fmla="val 3673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9601200" cy="1371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분단의 </a:t>
            </a:r>
            <a:r>
              <a:rPr sz="2400" b="1">
                <a:solidFill>
                  <a:srgbClr val="FFD479"/>
                </a:solidFill>
                <a:latin typeface="Malgun Gothic"/>
                <a:ea typeface="Malgun Gothic"/>
              </a:rPr>
              <a:t>원인</a:t>
            </a: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을 분석하고 통일 이후의 </a:t>
            </a:r>
            <a:r>
              <a:rPr sz="2400" b="1">
                <a:solidFill>
                  <a:srgbClr val="FFD479"/>
                </a:solidFill>
                <a:latin typeface="Malgun Gothic"/>
                <a:ea typeface="Malgun Gothic"/>
              </a:rPr>
              <a:t>질서</a:t>
            </a: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를 설계한다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3090672"/>
            <a:ext cx="548640" cy="548640"/>
          </a:xfrm>
          <a:prstGeom prst="ellipse">
            <a:avLst/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09067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017520"/>
            <a:ext cx="87782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Malgun Gothic"/>
                <a:ea typeface="Malgun Gothic"/>
              </a:rPr>
              <a:t>분단의 시작과 유지를 구분해 인과적으로 분석한다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959352"/>
            <a:ext cx="548640" cy="548640"/>
          </a:xfrm>
          <a:prstGeom prst="ellipse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9593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886200"/>
            <a:ext cx="87782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Malgun Gothic"/>
                <a:ea typeface="Malgun Gothic"/>
              </a:rPr>
              <a:t>북한 권력체제·인권·안보를 사실에 근거해 평가한다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4828031"/>
            <a:ext cx="548640" cy="548640"/>
          </a:xfrm>
          <a:prstGeom prst="ellipse">
            <a:avLst/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28031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754879"/>
            <a:ext cx="87782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Malgun Gothic"/>
                <a:ea typeface="Malgun Gothic"/>
              </a:rPr>
              <a:t>통일 이후 우선순위를 설계하고 나의 전공·소명과 연결한다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목차 — 오늘의 대주제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10561320" cy="5166359"/>
          </a:xfrm>
          <a:prstGeom prst="roundRect">
            <a:avLst>
              <a:gd name="adj" fmla="val 3185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371600"/>
            <a:ext cx="777240" cy="501776"/>
          </a:xfrm>
          <a:prstGeom prst="roundRect">
            <a:avLst>
              <a:gd name="adj" fmla="val 29157"/>
            </a:avLst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777240" cy="501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325880"/>
            <a:ext cx="548640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출발: 사람과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325880"/>
            <a:ext cx="246888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FB0C4"/>
                </a:solidFill>
                <a:latin typeface="Malgun Gothic"/>
                <a:ea typeface="Malgun Gothic"/>
              </a:rPr>
              <a:t>1-1 ·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325880"/>
            <a:ext cx="118872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D479"/>
                </a:solidFill>
                <a:latin typeface="Malgun Gothic"/>
                <a:ea typeface="Malgun Gothic"/>
              </a:rPr>
              <a:t>8분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1983104"/>
            <a:ext cx="777240" cy="501776"/>
          </a:xfrm>
          <a:prstGeom prst="roundRect">
            <a:avLst>
              <a:gd name="adj" fmla="val 29157"/>
            </a:avLst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983104"/>
            <a:ext cx="777240" cy="501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937385"/>
            <a:ext cx="548640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분단의 인과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937385"/>
            <a:ext cx="246888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FB0C4"/>
                </a:solidFill>
                <a:latin typeface="Malgun Gothic"/>
                <a:ea typeface="Malgun Gothic"/>
              </a:rPr>
              <a:t>2-1 · 2-2 · 2-3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1937385"/>
            <a:ext cx="118872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D479"/>
                </a:solidFill>
                <a:latin typeface="Malgun Gothic"/>
                <a:ea typeface="Malgun Gothic"/>
              </a:rPr>
              <a:t>12분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94609"/>
            <a:ext cx="777240" cy="501776"/>
          </a:xfrm>
          <a:prstGeom prst="roundRect">
            <a:avLst>
              <a:gd name="adj" fmla="val 29157"/>
            </a:avLst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594609"/>
            <a:ext cx="777240" cy="501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548889"/>
            <a:ext cx="548640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북한 권력체제의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548889"/>
            <a:ext cx="246888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FB0C4"/>
                </a:solidFill>
                <a:latin typeface="Malgun Gothic"/>
                <a:ea typeface="Malgun Gothic"/>
              </a:rPr>
              <a:t>3-1 · 3-2 · 3-3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548889"/>
            <a:ext cx="118872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D479"/>
                </a:solidFill>
                <a:latin typeface="Malgun Gothic"/>
                <a:ea typeface="Malgun Gothic"/>
              </a:rPr>
              <a:t>12분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206114"/>
            <a:ext cx="777240" cy="501776"/>
          </a:xfrm>
          <a:prstGeom prst="roundRect">
            <a:avLst>
              <a:gd name="adj" fmla="val 29157"/>
            </a:avLst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206114"/>
            <a:ext cx="777240" cy="501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160395"/>
            <a:ext cx="548640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자유민주주의와 대한민국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160395"/>
            <a:ext cx="246888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FB0C4"/>
                </a:solidFill>
                <a:latin typeface="Malgun Gothic"/>
                <a:ea typeface="Malgun Gothic"/>
              </a:rPr>
              <a:t>4-1 · 4-2 · 4-3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160395"/>
            <a:ext cx="118872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D479"/>
                </a:solidFill>
                <a:latin typeface="Malgun Gothic"/>
                <a:ea typeface="Malgun Gothic"/>
              </a:rPr>
              <a:t>10분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817620"/>
            <a:ext cx="777240" cy="501776"/>
          </a:xfrm>
          <a:prstGeom prst="roundRect">
            <a:avLst>
              <a:gd name="adj" fmla="val 29157"/>
            </a:avLst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817620"/>
            <a:ext cx="777240" cy="501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3771900"/>
            <a:ext cx="548640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북한인권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771900"/>
            <a:ext cx="246888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FB0C4"/>
                </a:solidFill>
                <a:latin typeface="Malgun Gothic"/>
                <a:ea typeface="Malgun Gothic"/>
              </a:rPr>
              <a:t>5-1 · 5-2 · 5-3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3771900"/>
            <a:ext cx="118872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D479"/>
                </a:solidFill>
                <a:latin typeface="Malgun Gothic"/>
                <a:ea typeface="Malgun Gothic"/>
              </a:rPr>
              <a:t>11분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4429125"/>
            <a:ext cx="777240" cy="501776"/>
          </a:xfrm>
          <a:prstGeom prst="roundRect">
            <a:avLst>
              <a:gd name="adj" fmla="val 29157"/>
            </a:avLst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429125"/>
            <a:ext cx="777240" cy="501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383405"/>
            <a:ext cx="548640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안보와 평화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383405"/>
            <a:ext cx="246888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FB0C4"/>
                </a:solidFill>
                <a:latin typeface="Malgun Gothic"/>
                <a:ea typeface="Malgun Gothic"/>
              </a:rPr>
              <a:t>6-1 · 6-2 · 6-3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4383405"/>
            <a:ext cx="118872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D479"/>
                </a:solidFill>
                <a:latin typeface="Malgun Gothic"/>
                <a:ea typeface="Malgun Gothic"/>
              </a:rPr>
              <a:t>8분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040629"/>
            <a:ext cx="777240" cy="501776"/>
          </a:xfrm>
          <a:prstGeom prst="roundRect">
            <a:avLst>
              <a:gd name="adj" fmla="val 29157"/>
            </a:avLst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040629"/>
            <a:ext cx="777240" cy="501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4994909"/>
            <a:ext cx="548640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통일 경로와 통일 이후의 설계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4994909"/>
            <a:ext cx="246888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FB0C4"/>
                </a:solidFill>
                <a:latin typeface="Malgun Gothic"/>
                <a:ea typeface="Malgun Gothic"/>
              </a:rPr>
              <a:t>7-1 · 7-2 · 7-3 · 7-4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994909"/>
            <a:ext cx="118872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D479"/>
                </a:solidFill>
                <a:latin typeface="Malgun Gothic"/>
                <a:ea typeface="Malgun Gothic"/>
              </a:rPr>
              <a:t>14분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5652134"/>
            <a:ext cx="777240" cy="501776"/>
          </a:xfrm>
          <a:prstGeom prst="roundRect">
            <a:avLst>
              <a:gd name="adj" fmla="val 29157"/>
            </a:avLst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652134"/>
            <a:ext cx="777240" cy="501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606415"/>
            <a:ext cx="548640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나의 전공과 소명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5606415"/>
            <a:ext cx="246888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FB0C4"/>
                </a:solidFill>
                <a:latin typeface="Malgun Gothic"/>
                <a:ea typeface="Malgun Gothic"/>
              </a:rPr>
              <a:t>8-1 · 8-2 · 8-3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5606415"/>
            <a:ext cx="1188720" cy="574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D479"/>
                </a:solidFill>
                <a:latin typeface="Malgun Gothic"/>
                <a:ea typeface="Malgun Gothic"/>
              </a:rPr>
              <a:t>10분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1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출발: 사람과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통일을 말하기 전에, 사람은 누구인가?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2C7DA0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나의 출발점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세 가지 기본 약속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8분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출발: 사람과 질문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C7DA0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383155" cy="402336"/>
          </a:xfrm>
          <a:prstGeom prst="roundRect">
            <a:avLst>
              <a:gd name="adj" fmla="val 45454"/>
            </a:avLst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1-1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51447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나의 출발점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통일, 나는 어디쯤 서 있는가?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142033">
              <a:alpha val="86000"/>
            </a:srgbClr>
          </a:solidFill>
          <a:ln w="19050">
            <a:solidFill>
              <a:srgbClr val="2C7DA0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2770632"/>
            <a:ext cx="3749039" cy="457200"/>
          </a:xfrm>
          <a:prstGeom prst="roundRect">
            <a:avLst>
              <a:gd name="adj" fmla="val 40000"/>
            </a:avLst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2770632"/>
            <a:ext cx="3749039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실시간 설문 · 5점 척도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364991"/>
            <a:ext cx="10515600" cy="1600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AF0F7"/>
                </a:solidFill>
                <a:latin typeface="Malgun Gothic"/>
                <a:ea typeface="Malgun Gothic"/>
              </a:rPr>
              <a:t>① 통일은 </a:t>
            </a:r>
            <a:r>
              <a:rPr sz="3000" b="1">
                <a:solidFill>
                  <a:srgbClr val="FFD479"/>
                </a:solidFill>
                <a:latin typeface="Malgun Gothic"/>
                <a:ea typeface="Malgun Gothic"/>
              </a:rPr>
              <a:t>필요</a:t>
            </a:r>
            <a:r>
              <a:rPr sz="3000" b="1">
                <a:solidFill>
                  <a:srgbClr val="EAF0F7"/>
                </a:solidFill>
                <a:latin typeface="Malgun Gothic"/>
                <a:ea typeface="Malgun Gothic"/>
              </a:rPr>
              <a:t>하다 ② 통일 비용이 </a:t>
            </a:r>
            <a:r>
              <a:rPr sz="3000" b="1">
                <a:solidFill>
                  <a:srgbClr val="FFD479"/>
                </a:solidFill>
                <a:latin typeface="Malgun Gothic"/>
                <a:ea typeface="Malgun Gothic"/>
              </a:rPr>
              <a:t>부담</a:t>
            </a:r>
            <a:r>
              <a:rPr sz="3000" b="1">
                <a:solidFill>
                  <a:srgbClr val="EAF0F7"/>
                </a:solidFill>
                <a:latin typeface="Malgun Gothic"/>
                <a:ea typeface="Malgun Gothic"/>
              </a:rPr>
              <a:t>된다 ③ 북한 주민은 </a:t>
            </a:r>
            <a:r>
              <a:rPr sz="3000" b="1">
                <a:solidFill>
                  <a:srgbClr val="FFD479"/>
                </a:solidFill>
                <a:latin typeface="Malgun Gothic"/>
                <a:ea typeface="Malgun Gothic"/>
              </a:rPr>
              <a:t>나와 같은 사람</a:t>
            </a:r>
            <a:r>
              <a:rPr sz="3000" b="1">
                <a:solidFill>
                  <a:srgbClr val="EAF0F7"/>
                </a:solidFill>
                <a:latin typeface="Malgun Gothic"/>
                <a:ea typeface="Malgun Gothic"/>
              </a:rPr>
              <a:t>이다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102352"/>
            <a:ext cx="1051560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9FB0C4"/>
                </a:solidFill>
                <a:latin typeface="Malgun Gothic"/>
                <a:ea typeface="Malgun Gothic"/>
              </a:rPr>
              <a:t>QR 응답 → 분포 그래프 즉시 공개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9FB0C4"/>
                </a:solidFill>
                <a:latin typeface="Malgun Gothic"/>
                <a:ea typeface="Malgun Gothic"/>
              </a:rPr>
              <a:t>수업 끝에 동일 문항 재응답 (사고의 변화 확인)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출발: 사람과 질문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C7DA0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383155" cy="402336"/>
          </a:xfrm>
          <a:prstGeom prst="roundRect">
            <a:avLst>
              <a:gd name="adj" fmla="val 45454"/>
            </a:avLst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1-1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51447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나의 출발점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같은 땅, 같은 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11091672" cy="3246120"/>
          </a:xfrm>
          <a:prstGeom prst="roundRect">
            <a:avLst>
              <a:gd name="adj" fmla="val 3380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3108960"/>
            <a:ext cx="10543032" cy="2514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C8C6EA"/>
                </a:solidFill>
                <a:latin typeface="Malgun Gothic"/>
                <a:ea typeface="Malgun Gothic"/>
              </a:rPr>
              <a:t>NASA 한반도 야경 위성사진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79592"/>
            <a:ext cx="11091672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이 차이는 어디에서 왔을까? — 오늘 수업 전체가 이 질문의 답입니다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출발: 사람과 질문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C7DA0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973705" cy="402336"/>
          </a:xfrm>
          <a:prstGeom prst="roundRect">
            <a:avLst>
              <a:gd name="adj" fmla="val 45454"/>
            </a:avLst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1-2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2105024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세 가지 기본 약속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이 수업의 세 가지 기본 약속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3544824" cy="3840480"/>
          </a:xfrm>
          <a:prstGeom prst="roundRect">
            <a:avLst>
              <a:gd name="adj" fmla="val 4643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사람을 먼저 본다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325112"/>
            <a:ext cx="332536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남북 주민 모두 하나님의 형상으로 지음 받은 사람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2064" y="2542032"/>
            <a:ext cx="3544824" cy="3840480"/>
          </a:xfrm>
          <a:prstGeom prst="roundRect">
            <a:avLst>
              <a:gd name="adj" fmla="val 4643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04944" y="2724912"/>
            <a:ext cx="502920" cy="502920"/>
          </a:xfrm>
          <a:prstGeom prst="ellipse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494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1792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정권과 주민을 구분한다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1792" y="4325112"/>
            <a:ext cx="332536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정권은 평가 대상, 주민은 함께 살아갈 사람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5488" y="2542032"/>
            <a:ext cx="3544824" cy="3840480"/>
          </a:xfrm>
          <a:prstGeom prst="roundRect">
            <a:avLst>
              <a:gd name="adj" fmla="val 4643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78367" y="2724912"/>
            <a:ext cx="502920" cy="502920"/>
          </a:xfrm>
          <a:prstGeom prst="ellipse">
            <a:avLst/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8367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5215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통일은 구원이 아니다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5215" y="4325112"/>
            <a:ext cx="332536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통일을 신성화하지 않고 역사적 책임으로 본다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출발: 사람과 질문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C7DA0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973705" cy="402336"/>
          </a:xfrm>
          <a:prstGeom prst="roundRect">
            <a:avLst>
              <a:gd name="adj" fmla="val 45454"/>
            </a:avLst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1-2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2105024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세 가지 기본 약속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두 가지 오류를 모두 피한다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오류 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정권 비판이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주민 혐오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로 변한다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주민을 통일의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장애물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로 본다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91071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1071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1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오류 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1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주민에 대한 연민이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체제 비판을 막는다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주민을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불쌍한 대상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으로만 본다</a:t>
            </a:r>
          </a:p>
        </p:txBody>
      </p:sp>
      <p:sp>
        <p:nvSpPr>
          <p:cNvPr id="38" name="Oval 37"/>
          <p:cNvSpPr/>
          <p:nvPr/>
        </p:nvSpPr>
        <p:spPr>
          <a:xfrm>
            <a:off x="5824728" y="418795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24728" y="4187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algun Gothic"/>
                <a:ea typeface="Malgun Gothic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2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분단의 인과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분단의 시작과 유지는 같은 문제인가?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7B52AB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해방 공간의 갈림길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전쟁과 정전체제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977639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977639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8620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시작과 유지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12분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O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분단의 인과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7B52AB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3059430" cy="402336"/>
          </a:xfrm>
          <a:prstGeom prst="roundRect">
            <a:avLst>
              <a:gd name="adj" fmla="val 45454"/>
            </a:avLst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2-1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219074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해방 공간의 갈림길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해방 공간: 갈림길의 연쇄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101B2C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4400" y="3776472"/>
            <a:ext cx="10360152" cy="73152"/>
          </a:xfrm>
          <a:prstGeom prst="roundRect">
            <a:avLst>
              <a:gd name="adj" fmla="val 50000"/>
            </a:avLst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26538" y="3630168"/>
            <a:ext cx="365760" cy="365760"/>
          </a:xfrm>
          <a:prstGeom prst="ellipse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5" y="2862072"/>
            <a:ext cx="2516886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D479"/>
                </a:solidFill>
                <a:latin typeface="Malgun Gothic"/>
                <a:ea typeface="Malgun Gothic"/>
              </a:rPr>
              <a:t>1945.8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3" y="4142232"/>
            <a:ext cx="2480310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AF0F7"/>
                </a:solidFill>
                <a:latin typeface="Malgun Gothic"/>
                <a:ea typeface="Malgun Gothic"/>
              </a:rPr>
              <a:t>해방 · 38선 분할 점령</a:t>
            </a:r>
          </a:p>
        </p:txBody>
      </p:sp>
      <p:sp>
        <p:nvSpPr>
          <p:cNvPr id="35" name="Oval 34"/>
          <p:cNvSpPr/>
          <p:nvPr/>
        </p:nvSpPr>
        <p:spPr>
          <a:xfrm>
            <a:off x="4616577" y="3630168"/>
            <a:ext cx="365760" cy="365760"/>
          </a:xfrm>
          <a:prstGeom prst="ellipse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41014" y="2862072"/>
            <a:ext cx="2516886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D479"/>
                </a:solidFill>
                <a:latin typeface="Malgun Gothic"/>
                <a:ea typeface="Malgun Gothic"/>
              </a:rPr>
              <a:t>1945.12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9302" y="4142232"/>
            <a:ext cx="2480310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AF0F7"/>
                </a:solidFill>
                <a:latin typeface="Malgun Gothic"/>
                <a:ea typeface="Malgun Gothic"/>
              </a:rPr>
              <a:t>모스크바 3상회의 · 신탁통치</a:t>
            </a:r>
          </a:p>
        </p:txBody>
      </p:sp>
      <p:sp>
        <p:nvSpPr>
          <p:cNvPr id="38" name="Oval 37"/>
          <p:cNvSpPr/>
          <p:nvPr/>
        </p:nvSpPr>
        <p:spPr>
          <a:xfrm>
            <a:off x="7206615" y="3630168"/>
            <a:ext cx="365760" cy="365760"/>
          </a:xfrm>
          <a:prstGeom prst="ellipse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1052" y="2862072"/>
            <a:ext cx="2516886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D479"/>
                </a:solidFill>
                <a:latin typeface="Malgun Gothic"/>
                <a:ea typeface="Malgun Gothic"/>
              </a:rPr>
              <a:t>1946~47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9340" y="4142232"/>
            <a:ext cx="2480310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AF0F7"/>
                </a:solidFill>
                <a:latin typeface="Malgun Gothic"/>
                <a:ea typeface="Malgun Gothic"/>
              </a:rPr>
              <a:t>미소공동위원회 결렬</a:t>
            </a:r>
          </a:p>
        </p:txBody>
      </p:sp>
      <p:sp>
        <p:nvSpPr>
          <p:cNvPr id="41" name="Oval 40"/>
          <p:cNvSpPr/>
          <p:nvPr/>
        </p:nvSpPr>
        <p:spPr>
          <a:xfrm>
            <a:off x="9796653" y="3630168"/>
            <a:ext cx="365760" cy="365760"/>
          </a:xfrm>
          <a:prstGeom prst="ellipse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21090" y="2862072"/>
            <a:ext cx="2516886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D479"/>
                </a:solidFill>
                <a:latin typeface="Malgun Gothic"/>
                <a:ea typeface="Malgun Gothic"/>
              </a:rPr>
              <a:t>1948.8~9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9378" y="4142232"/>
            <a:ext cx="2480310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AF0F7"/>
                </a:solidFill>
                <a:latin typeface="Malgun Gothic"/>
                <a:ea typeface="Malgun Gothic"/>
              </a:rPr>
              <a:t>남북 각각 정부 수립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815584"/>
            <a:ext cx="106984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9FB0C4"/>
                </a:solidFill>
                <a:latin typeface="Malgun Gothic"/>
                <a:ea typeface="Malgun Gothic"/>
              </a:rPr>
              <a:t>각 갈림길에서 </a:t>
            </a:r>
            <a:r>
              <a:rPr sz="1400" b="1">
                <a:solidFill>
                  <a:srgbClr val="7B52AB"/>
                </a:solidFill>
                <a:latin typeface="Malgun Gothic"/>
                <a:ea typeface="Malgun Gothic"/>
              </a:rPr>
              <a:t>누가 어떤 선택</a:t>
            </a:r>
            <a:r>
              <a:rPr sz="1400" b="1">
                <a:solidFill>
                  <a:srgbClr val="9FB0C4"/>
                </a:solidFill>
                <a:latin typeface="Malgun Gothic"/>
                <a:ea typeface="Malgun Gothic"/>
              </a:rPr>
              <a:t>을 했고 </a:t>
            </a:r>
            <a:r>
              <a:rPr sz="1400" b="1">
                <a:solidFill>
                  <a:srgbClr val="7B52AB"/>
                </a:solidFill>
                <a:latin typeface="Malgun Gothic"/>
                <a:ea typeface="Malgun Gothic"/>
              </a:rPr>
              <a:t>무엇이 닫혔는가?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O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분단의 인과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7B52AB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3059430" cy="402336"/>
          </a:xfrm>
          <a:prstGeom prst="roundRect">
            <a:avLst>
              <a:gd name="adj" fmla="val 45454"/>
            </a:avLst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2-1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219074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해방 공간의 갈림길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외부 요인 vs 내부 요인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01B2C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외부 요인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미·소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분할 점령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과 냉전 구도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국제 합의(신탁통치)의 한계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91071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01B2C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1071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1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내부 요인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1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건국 노선을 둘러싼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좌우 갈등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단독정부 수립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선택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과 반대</a:t>
            </a:r>
          </a:p>
        </p:txBody>
      </p:sp>
      <p:sp>
        <p:nvSpPr>
          <p:cNvPr id="38" name="Oval 37"/>
          <p:cNvSpPr/>
          <p:nvPr/>
        </p:nvSpPr>
        <p:spPr>
          <a:xfrm>
            <a:off x="5824728" y="418795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24728" y="4187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algun Gothic"/>
                <a:ea typeface="Malgun Gothic"/>
              </a:rPr>
              <a:t>+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O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분단의 인과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7B52AB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3059430" cy="402336"/>
          </a:xfrm>
          <a:prstGeom prst="roundRect">
            <a:avLst>
              <a:gd name="adj" fmla="val 45454"/>
            </a:avLst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2-1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219074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해방 공간의 갈림길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어느 설명이 무엇을 놓치는가?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101B2C">
              <a:alpha val="84000"/>
            </a:srgbClr>
          </a:solidFill>
          <a:ln w="19050">
            <a:solidFill>
              <a:srgbClr val="7B52AB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2770632"/>
            <a:ext cx="1691640" cy="457200"/>
          </a:xfrm>
          <a:prstGeom prst="roundRect">
            <a:avLst>
              <a:gd name="adj" fmla="val 40000"/>
            </a:avLst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2770632"/>
            <a:ext cx="16916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토론 3분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364991"/>
            <a:ext cx="10515600" cy="1600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AF0F7"/>
                </a:solidFill>
                <a:latin typeface="Malgun Gothic"/>
                <a:ea typeface="Malgun Gothic"/>
              </a:rPr>
              <a:t>"분단은 </a:t>
            </a:r>
            <a:r>
              <a:rPr sz="3000" b="1">
                <a:solidFill>
                  <a:srgbClr val="FFD479"/>
                </a:solidFill>
                <a:latin typeface="Malgun Gothic"/>
                <a:ea typeface="Malgun Gothic"/>
              </a:rPr>
              <a:t>강대국</a:t>
            </a:r>
            <a:r>
              <a:rPr sz="3000" b="1">
                <a:solidFill>
                  <a:srgbClr val="EAF0F7"/>
                </a:solidFill>
                <a:latin typeface="Malgun Gothic"/>
                <a:ea typeface="Malgun Gothic"/>
              </a:rPr>
              <a:t> 때문이다" vs "분단은 </a:t>
            </a:r>
            <a:r>
              <a:rPr sz="3000" b="1">
                <a:solidFill>
                  <a:srgbClr val="FFD479"/>
                </a:solidFill>
                <a:latin typeface="Malgun Gothic"/>
                <a:ea typeface="Malgun Gothic"/>
              </a:rPr>
              <a:t>우리 내부</a:t>
            </a:r>
            <a:r>
              <a:rPr sz="3000" b="1">
                <a:solidFill>
                  <a:srgbClr val="EAF0F7"/>
                </a:solidFill>
                <a:latin typeface="Malgun Gothic"/>
                <a:ea typeface="Malgun Gothic"/>
              </a:rPr>
              <a:t> 갈등 때문이다"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102352"/>
            <a:ext cx="1051560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9FB0C4"/>
                </a:solidFill>
                <a:latin typeface="Malgun Gothic"/>
                <a:ea typeface="Malgun Gothic"/>
              </a:rPr>
              <a:t>각 주장이 설명하는 것 / 놓치는 것을 한 줄씩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9FB0C4"/>
                </a:solidFill>
                <a:latin typeface="Malgun Gothic"/>
                <a:ea typeface="Malgun Gothic"/>
              </a:rPr>
              <a:t>모둠 발표 → 공통 결론 도출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O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분단의 인과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7B52AB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764155" cy="402336"/>
          </a:xfrm>
          <a:prstGeom prst="roundRect">
            <a:avLst>
              <a:gd name="adj" fmla="val 45454"/>
            </a:avLst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2-2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89547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전쟁과 정전체제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전쟁에서 정전까지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101B2C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4400" y="3776472"/>
            <a:ext cx="10360152" cy="73152"/>
          </a:xfrm>
          <a:prstGeom prst="roundRect">
            <a:avLst>
              <a:gd name="adj" fmla="val 50000"/>
            </a:avLst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767535" y="3630168"/>
            <a:ext cx="365760" cy="365760"/>
          </a:xfrm>
          <a:prstGeom prst="ellipse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2862072"/>
            <a:ext cx="1998878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D479"/>
                </a:solidFill>
                <a:latin typeface="Malgun Gothic"/>
                <a:ea typeface="Malgun Gothic"/>
              </a:rPr>
              <a:t>1950.6.25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" y="4142232"/>
            <a:ext cx="1962302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AF0F7"/>
                </a:solidFill>
                <a:latin typeface="Malgun Gothic"/>
                <a:ea typeface="Malgun Gothic"/>
              </a:rPr>
              <a:t>전쟁 시작</a:t>
            </a:r>
          </a:p>
        </p:txBody>
      </p:sp>
      <p:sp>
        <p:nvSpPr>
          <p:cNvPr id="35" name="Oval 34"/>
          <p:cNvSpPr/>
          <p:nvPr/>
        </p:nvSpPr>
        <p:spPr>
          <a:xfrm>
            <a:off x="3839565" y="3630168"/>
            <a:ext cx="365760" cy="365760"/>
          </a:xfrm>
          <a:prstGeom prst="ellipse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23006" y="2862072"/>
            <a:ext cx="1998878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D479"/>
                </a:solidFill>
                <a:latin typeface="Malgun Gothic"/>
                <a:ea typeface="Malgun Gothic"/>
              </a:rPr>
              <a:t>1950.9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41294" y="4142232"/>
            <a:ext cx="1962302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AF0F7"/>
                </a:solidFill>
                <a:latin typeface="Malgun Gothic"/>
                <a:ea typeface="Malgun Gothic"/>
              </a:rPr>
              <a:t>인천상륙작전</a:t>
            </a:r>
          </a:p>
        </p:txBody>
      </p:sp>
      <p:sp>
        <p:nvSpPr>
          <p:cNvPr id="38" name="Oval 37"/>
          <p:cNvSpPr/>
          <p:nvPr/>
        </p:nvSpPr>
        <p:spPr>
          <a:xfrm>
            <a:off x="5911596" y="3630168"/>
            <a:ext cx="365760" cy="365760"/>
          </a:xfrm>
          <a:prstGeom prst="ellipse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95036" y="2862072"/>
            <a:ext cx="1998878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D479"/>
                </a:solidFill>
                <a:latin typeface="Malgun Gothic"/>
                <a:ea typeface="Malgun Gothic"/>
              </a:rPr>
              <a:t>1950.10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13324" y="4142232"/>
            <a:ext cx="1962302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AF0F7"/>
                </a:solidFill>
                <a:latin typeface="Malgun Gothic"/>
                <a:ea typeface="Malgun Gothic"/>
              </a:rPr>
              <a:t>중국군 참전</a:t>
            </a:r>
          </a:p>
        </p:txBody>
      </p:sp>
      <p:sp>
        <p:nvSpPr>
          <p:cNvPr id="41" name="Oval 40"/>
          <p:cNvSpPr/>
          <p:nvPr/>
        </p:nvSpPr>
        <p:spPr>
          <a:xfrm>
            <a:off x="7983626" y="3630168"/>
            <a:ext cx="365760" cy="365760"/>
          </a:xfrm>
          <a:prstGeom prst="ellipse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67067" y="2862072"/>
            <a:ext cx="1998878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D479"/>
                </a:solidFill>
                <a:latin typeface="Malgun Gothic"/>
                <a:ea typeface="Malgun Gothic"/>
              </a:rPr>
              <a:t>1951~52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85355" y="4142232"/>
            <a:ext cx="1962302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AF0F7"/>
                </a:solidFill>
                <a:latin typeface="Malgun Gothic"/>
                <a:ea typeface="Malgun Gothic"/>
              </a:rPr>
              <a:t>전선 고착 · 협상</a:t>
            </a:r>
          </a:p>
        </p:txBody>
      </p:sp>
      <p:sp>
        <p:nvSpPr>
          <p:cNvPr id="44" name="Oval 43"/>
          <p:cNvSpPr/>
          <p:nvPr/>
        </p:nvSpPr>
        <p:spPr>
          <a:xfrm>
            <a:off x="10055656" y="3630168"/>
            <a:ext cx="365760" cy="365760"/>
          </a:xfrm>
          <a:prstGeom prst="ellipse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9097" y="2862072"/>
            <a:ext cx="1998878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D479"/>
                </a:solidFill>
                <a:latin typeface="Malgun Gothic"/>
                <a:ea typeface="Malgun Gothic"/>
              </a:rPr>
              <a:t>1953.7.27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7385" y="4142232"/>
            <a:ext cx="1962302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AF0F7"/>
                </a:solidFill>
                <a:latin typeface="Malgun Gothic"/>
                <a:ea typeface="Malgun Gothic"/>
              </a:rPr>
              <a:t>정전협정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815584"/>
            <a:ext cx="106984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7B52AB"/>
                </a:solidFill>
                <a:latin typeface="Malgun Gothic"/>
                <a:ea typeface="Malgun Gothic"/>
              </a:rPr>
              <a:t>정전</a:t>
            </a:r>
            <a:r>
              <a:rPr sz="1400" b="1">
                <a:solidFill>
                  <a:srgbClr val="9FB0C4"/>
                </a:solidFill>
                <a:latin typeface="Malgun Gothic"/>
                <a:ea typeface="Malgun Gothic"/>
              </a:rPr>
              <a:t>은 전쟁의 종결이 아니라 </a:t>
            </a:r>
            <a:r>
              <a:rPr sz="1400" b="1">
                <a:solidFill>
                  <a:srgbClr val="7B52AB"/>
                </a:solidFill>
                <a:latin typeface="Malgun Gothic"/>
                <a:ea typeface="Malgun Gothic"/>
              </a:rPr>
              <a:t>전투의 중단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O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분단의 인과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7B52AB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764155" cy="402336"/>
          </a:xfrm>
          <a:prstGeom prst="roundRect">
            <a:avLst>
              <a:gd name="adj" fmla="val 45454"/>
            </a:avLst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2-2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89547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전쟁과 정전체제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38선과 군사분계선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11091672" cy="3246120"/>
          </a:xfrm>
          <a:prstGeom prst="roundRect">
            <a:avLst>
              <a:gd name="adj" fmla="val 3380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지도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3108960"/>
            <a:ext cx="10543032" cy="2514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9FB0C4"/>
                </a:solidFill>
                <a:latin typeface="Malgun Gothic"/>
                <a:ea typeface="Malgun Gothic"/>
              </a:rPr>
              <a:t>38선 vs 군사분계선(MDL) 겹침 지도 + DMZ 폭 표시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79592"/>
            <a:ext cx="11091672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EAF0F7"/>
                </a:solidFill>
                <a:latin typeface="Malgun Gothic"/>
                <a:ea typeface="Malgun Gothic"/>
              </a:rPr>
              <a:t>두 선은 다르다 — 분단선은 전쟁이 다시 그은 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O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분단의 인과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7B52AB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383155" cy="402336"/>
          </a:xfrm>
          <a:prstGeom prst="roundRect">
            <a:avLst>
              <a:gd name="adj" fmla="val 45454"/>
            </a:avLst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2-3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51447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시작과 유지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시작과 유지는 다른 문제다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01B2C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시작 (1945~1953)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해방 공간의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선택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과 국제 환경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전쟁이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체제분단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으로 고착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91071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01B2C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1071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1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유지 (1953~현재)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1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군사적 대치·핵·미사일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체제 경쟁·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상호 불신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·주변국 이해</a:t>
            </a:r>
          </a:p>
        </p:txBody>
      </p:sp>
      <p:sp>
        <p:nvSpPr>
          <p:cNvPr id="38" name="Oval 37"/>
          <p:cNvSpPr/>
          <p:nvPr/>
        </p:nvSpPr>
        <p:spPr>
          <a:xfrm>
            <a:off x="5824728" y="418795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24728" y="4187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algun Gothic"/>
                <a:ea typeface="Malgun Gothic"/>
              </a:rPr>
              <a:t>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3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북한 권력체제의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제도에 적힌 것과 실제로 움직이는 권력은 어떻게 다른가?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C0661F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당·국가·최고지도자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공식 경제와 실제 생존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977639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977639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8620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권력집중과 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12분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북한 권력체제의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0661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3059430" cy="402336"/>
          </a:xfrm>
          <a:prstGeom prst="roundRect">
            <a:avLst>
              <a:gd name="adj" fmla="val 45454"/>
            </a:avLst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3-1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219074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당·국가·최고지도자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제도의 형식 vs 권력의 실제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형식(문서)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헌법과 법률이 정한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국가기관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최고인민회의 · 내각 · 국무위원회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91071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1071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1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실제(작동)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1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조선로동당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의 영도가 모든 조직에 우선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최고지도자 중심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유일적 영도체계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북한 권력체제의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0661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3059430" cy="402336"/>
          </a:xfrm>
          <a:prstGeom prst="roundRect">
            <a:avLst>
              <a:gd name="adj" fmla="val 45454"/>
            </a:avLst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3-1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219074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당·국가·최고지도자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권력의 세 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정책 결정과 인사, 이념 교육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2064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04944" y="2724912"/>
            <a:ext cx="502920" cy="502920"/>
          </a:xfrm>
          <a:prstGeom prst="ellipse">
            <a:avLst/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494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1792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국가기구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1792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당의 결정을 집행하는 행정·입법·군사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5488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78367" y="2724912"/>
            <a:ext cx="502920" cy="502920"/>
          </a:xfrm>
          <a:prstGeom prst="ellipse">
            <a:avLst/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8367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5215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외곽 조직·감시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5215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청년·여성 등 조직 생활과 보위·보안 기구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22580"/>
            </a:avLst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760720"/>
            <a:ext cx="11091672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권력집중은 </a:t>
            </a: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정보·이동·직업·처벌</a:t>
            </a: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의 구조로 일상에 닿는다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북한 권력체제의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0661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3354705" cy="402336"/>
          </a:xfrm>
          <a:prstGeom prst="roundRect">
            <a:avLst>
              <a:gd name="adj" fmla="val 45454"/>
            </a:avLst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3-2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248602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공식 경제와 실제 생존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공식 경제제도와 주민의 생존방식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공식 제도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국가가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계획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하고 배급하는 경제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국영기업·협동농장 중심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91071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1071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1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실제 생존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1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장마당·사경제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로 생계를 해결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시장에서의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소득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이 가계의 큰 비중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북한 권력체제의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0661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3354705" cy="402336"/>
          </a:xfrm>
          <a:prstGeom prst="roundRect">
            <a:avLst>
              <a:gd name="adj" fmla="val 45454"/>
            </a:avLst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3-2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248602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공식 경제와 실제 생존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시장화의 흐름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21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4400" y="3776472"/>
            <a:ext cx="10360152" cy="73152"/>
          </a:xfrm>
          <a:prstGeom prst="roundRect">
            <a:avLst>
              <a:gd name="adj" fmla="val 50000"/>
            </a:avLst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26538" y="3630168"/>
            <a:ext cx="365760" cy="365760"/>
          </a:xfrm>
          <a:prstGeom prst="ellipse">
            <a:avLst/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5" y="2862072"/>
            <a:ext cx="2516886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D479"/>
                </a:solidFill>
                <a:latin typeface="Malgun Gothic"/>
                <a:ea typeface="Malgun Gothic"/>
              </a:rPr>
              <a:t>1990년대 중반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3" y="4142232"/>
            <a:ext cx="2480310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AF0F7"/>
                </a:solidFill>
                <a:latin typeface="Malgun Gothic"/>
                <a:ea typeface="Malgun Gothic"/>
              </a:rPr>
              <a:t>경제난 · 배급 약화</a:t>
            </a:r>
          </a:p>
        </p:txBody>
      </p:sp>
      <p:sp>
        <p:nvSpPr>
          <p:cNvPr id="35" name="Oval 34"/>
          <p:cNvSpPr/>
          <p:nvPr/>
        </p:nvSpPr>
        <p:spPr>
          <a:xfrm>
            <a:off x="4616577" y="3630168"/>
            <a:ext cx="365760" cy="365760"/>
          </a:xfrm>
          <a:prstGeom prst="ellipse">
            <a:avLst/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41014" y="2862072"/>
            <a:ext cx="2516886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D479"/>
                </a:solidFill>
                <a:latin typeface="Malgun Gothic"/>
                <a:ea typeface="Malgun Gothic"/>
              </a:rPr>
              <a:t>2002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9302" y="4142232"/>
            <a:ext cx="2480310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AF0F7"/>
                </a:solidFill>
                <a:latin typeface="Malgun Gothic"/>
                <a:ea typeface="Malgun Gothic"/>
              </a:rPr>
              <a:t>7·1 경제관리개선조치</a:t>
            </a:r>
          </a:p>
        </p:txBody>
      </p:sp>
      <p:sp>
        <p:nvSpPr>
          <p:cNvPr id="38" name="Oval 37"/>
          <p:cNvSpPr/>
          <p:nvPr/>
        </p:nvSpPr>
        <p:spPr>
          <a:xfrm>
            <a:off x="7206615" y="3630168"/>
            <a:ext cx="365760" cy="365760"/>
          </a:xfrm>
          <a:prstGeom prst="ellipse">
            <a:avLst/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1052" y="2862072"/>
            <a:ext cx="2516886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D479"/>
                </a:solidFill>
                <a:latin typeface="Malgun Gothic"/>
                <a:ea typeface="Malgun Gothic"/>
              </a:rPr>
              <a:t>2003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9340" y="4142232"/>
            <a:ext cx="2480310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AF0F7"/>
                </a:solidFill>
                <a:latin typeface="Malgun Gothic"/>
                <a:ea typeface="Malgun Gothic"/>
              </a:rPr>
              <a:t>종합시장 허용</a:t>
            </a:r>
          </a:p>
        </p:txBody>
      </p:sp>
      <p:sp>
        <p:nvSpPr>
          <p:cNvPr id="41" name="Oval 40"/>
          <p:cNvSpPr/>
          <p:nvPr/>
        </p:nvSpPr>
        <p:spPr>
          <a:xfrm>
            <a:off x="9796653" y="3630168"/>
            <a:ext cx="365760" cy="365760"/>
          </a:xfrm>
          <a:prstGeom prst="ellipse">
            <a:avLst/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21090" y="2862072"/>
            <a:ext cx="2516886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D479"/>
                </a:solidFill>
                <a:latin typeface="Malgun Gothic"/>
                <a:ea typeface="Malgun Gothic"/>
              </a:rPr>
              <a:t>2010년대~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9378" y="4142232"/>
            <a:ext cx="2480310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AF0F7"/>
                </a:solidFill>
                <a:latin typeface="Malgun Gothic"/>
                <a:ea typeface="Malgun Gothic"/>
              </a:rPr>
              <a:t>단속과 허용의 반복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815584"/>
            <a:ext cx="106984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9FB0C4"/>
                </a:solidFill>
                <a:latin typeface="Malgun Gothic"/>
                <a:ea typeface="Malgun Gothic"/>
              </a:rPr>
              <a:t>시장은 </a:t>
            </a:r>
            <a:r>
              <a:rPr sz="1400" b="1">
                <a:solidFill>
                  <a:srgbClr val="C0661F"/>
                </a:solidFill>
                <a:latin typeface="Malgun Gothic"/>
                <a:ea typeface="Malgun Gothic"/>
              </a:rPr>
              <a:t>허용과 통제</a:t>
            </a:r>
            <a:r>
              <a:rPr sz="1400" b="1">
                <a:solidFill>
                  <a:srgbClr val="9FB0C4"/>
                </a:solidFill>
                <a:latin typeface="Malgun Gothic"/>
                <a:ea typeface="Malgun Gothic"/>
              </a:rPr>
              <a:t> 사이에서 확대·위축을 반복했다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북한 권력체제의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0661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573655" cy="402336"/>
          </a:xfrm>
          <a:prstGeom prst="roundRect">
            <a:avLst>
              <a:gd name="adj" fmla="val 45454"/>
            </a:avLst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3-3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70497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권력집중과 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권력집중은 한 사람의 삶에 어떻게 닿는가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22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142033">
              <a:alpha val="86000"/>
            </a:srgbClr>
          </a:solidFill>
          <a:ln w="19050">
            <a:solidFill>
              <a:srgbClr val="C0661F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2679191"/>
            <a:ext cx="6126480" cy="3566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정보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: 외부 정보 접촉이 처벌 대상이 될 수 있다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이동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: 거주·이동에 허가가 필요하다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직업과 출신성분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: 개인의 배경이 기회에 영향을 준다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처벌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: 정권 비판은 중대한 위험으로 이어질 수 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2542032"/>
            <a:ext cx="4434840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인포그래픽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3108960"/>
            <a:ext cx="3886200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9FB0C4"/>
                </a:solidFill>
                <a:latin typeface="Malgun Gothic"/>
                <a:ea typeface="Malgun Gothic"/>
              </a:rPr>
              <a:t>권력 피라미드에서 개인의 하루까지 이어지는 흐름도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4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자유민주주의와 대한민국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자유민주주의는 무엇이며, 대한민국은 그것을 어떻게 지키고 있는가?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2E8B63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원리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자기교정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977639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977639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8620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한계를 직시하기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10분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자유민주주의와 대한민국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E8B63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1706880" cy="402336"/>
          </a:xfrm>
          <a:prstGeom prst="roundRect">
            <a:avLst>
              <a:gd name="adj" fmla="val 45454"/>
            </a:avLst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4-1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8382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원리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자유민주주의의 네 원리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2601468" cy="3840480"/>
          </a:xfrm>
          <a:prstGeom prst="roundRect">
            <a:avLst>
              <a:gd name="adj" fmla="val 632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국민주권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325112"/>
            <a:ext cx="2382012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나라의 주인은 국민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78708" y="2542032"/>
            <a:ext cx="2601468" cy="3840480"/>
          </a:xfrm>
          <a:prstGeom prst="roundRect">
            <a:avLst>
              <a:gd name="adj" fmla="val 632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61588" y="2724912"/>
            <a:ext cx="502920" cy="502920"/>
          </a:xfrm>
          <a:prstGeom prst="ellipse">
            <a:avLst/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1588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88436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권력분립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88436" y="4325112"/>
            <a:ext cx="2382012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권력은 나누고 견제한다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08776" y="2542032"/>
            <a:ext cx="2601468" cy="3840480"/>
          </a:xfrm>
          <a:prstGeom prst="roundRect">
            <a:avLst>
              <a:gd name="adj" fmla="val 632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91656" y="2724912"/>
            <a:ext cx="502920" cy="502920"/>
          </a:xfrm>
          <a:prstGeom prst="ellipse">
            <a:avLst/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1656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4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법치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4" y="4325112"/>
            <a:ext cx="2382012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지도자도 법 아래에 있다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38844" y="2542032"/>
            <a:ext cx="2601468" cy="3840480"/>
          </a:xfrm>
          <a:prstGeom prst="roundRect">
            <a:avLst>
              <a:gd name="adj" fmla="val 632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21724" y="2724912"/>
            <a:ext cx="502920" cy="502920"/>
          </a:xfrm>
          <a:prstGeom prst="ellipse">
            <a:avLst/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2172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8572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기본권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8572" y="4325112"/>
            <a:ext cx="2382012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양심·표현·신앙의 자유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자유민주주의와 대한민국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E8B63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1706880" cy="402336"/>
          </a:xfrm>
          <a:prstGeom prst="roundRect">
            <a:avLst>
              <a:gd name="adj" fmla="val 45454"/>
            </a:avLst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4-1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8382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원리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원리에서 일상까지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25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48640" y="2542032"/>
          <a:ext cx="11091671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524"/>
                <a:gridCol w="3169049"/>
                <a:gridCol w="3169049"/>
                <a:gridCol w="3169049"/>
              </a:tblGrid>
              <a:tr h="75895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원리</a:t>
                      </a:r>
                    </a:p>
                  </a:txBody>
                  <a:tcPr marL="91440" marR="91440" marT="27432" marB="27432" anchor="ctr">
                    <a:solidFill>
                      <a:srgbClr val="2E8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일상의 질문</a:t>
                      </a:r>
                    </a:p>
                  </a:txBody>
                  <a:tcPr marL="91440" marR="91440" marT="27432" marB="27432" anchor="ctr">
                    <a:solidFill>
                      <a:srgbClr val="2E8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대한민국</a:t>
                      </a:r>
                    </a:p>
                  </a:txBody>
                  <a:tcPr marL="91440" marR="91440" marT="27432" marB="27432" anchor="ctr">
                    <a:solidFill>
                      <a:srgbClr val="2E8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북한</a:t>
                      </a:r>
                    </a:p>
                  </a:txBody>
                  <a:tcPr marL="91440" marR="91440" marT="27432" marB="27432" anchor="ctr">
                    <a:solidFill>
                      <a:srgbClr val="C2475A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국민주권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지도자를 바꿀 수 있나?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선거로 교체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선거는 있으나 후보 선택 불가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권력분립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권력을 견제할 곳이 있나?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국회·법원·헌재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당 중심 권력 집중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법치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지도자도 법을 따르나?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헌법 아래 책임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최고지도자·당이 법 위에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기본권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비판·정보·신앙이 보장되나?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헌법상 보장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현실에서 큰 제한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자유민주주의와 대한민국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E8B63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087880" cy="402336"/>
          </a:xfrm>
          <a:prstGeom prst="roundRect">
            <a:avLst>
              <a:gd name="adj" fmla="val 45454"/>
            </a:avLst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4-2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2192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자기교정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자기교정의 장치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선거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권력을 교체한다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78708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61588" y="2724912"/>
            <a:ext cx="502920" cy="502920"/>
          </a:xfrm>
          <a:prstGeom prst="ellipse">
            <a:avLst/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1588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88436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헌법재판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88436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법 위반을 심판한다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08776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91656" y="2724912"/>
            <a:ext cx="502920" cy="502920"/>
          </a:xfrm>
          <a:prstGeom prst="ellipse">
            <a:avLst/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1656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4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언론·시민사회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4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잘못을 공개한다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38844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21724" y="2724912"/>
            <a:ext cx="502920" cy="502920"/>
          </a:xfrm>
          <a:prstGeom prst="ellipse">
            <a:avLst/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2172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8572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입법·개정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8572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제도를 고친다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22580"/>
            </a:avLst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60720"/>
            <a:ext cx="11091672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핵심은 문제의 </a:t>
            </a: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부재</a:t>
            </a: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가 아니라 문제를 </a:t>
            </a: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고칠 수 있는 구조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자유민주주의와 대한민국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E8B63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764155" cy="402336"/>
          </a:xfrm>
          <a:prstGeom prst="roundRect">
            <a:avLst>
              <a:gd name="adj" fmla="val 45454"/>
            </a:avLst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4-3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89547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한계를 직시하기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미화도 냉소도 아니다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27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대한민국의 한계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불평등과 세대·지역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갈등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제도 운영의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불균형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91071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1071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1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그래도 가능한 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1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문제를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말할 수 있다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비판·선거·법으로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고쳐 갈 수 있다</a:t>
            </a:r>
          </a:p>
        </p:txBody>
      </p:sp>
      <p:sp>
        <p:nvSpPr>
          <p:cNvPr id="38" name="Oval 37"/>
          <p:cNvSpPr/>
          <p:nvPr/>
        </p:nvSpPr>
        <p:spPr>
          <a:xfrm>
            <a:off x="5824728" y="418795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24728" y="4187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algun Gothic"/>
                <a:ea typeface="Malgun Gothic"/>
              </a:rPr>
              <a:t>+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5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북한인권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인권은 정치 구호인가, 한 사람의 삶의 문제인가?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C2475A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한 사람의 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국제사회의 기록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977639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977639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8620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인권은 사람의 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11분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북한인권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2475A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487930" cy="402336"/>
          </a:xfrm>
          <a:prstGeom prst="roundRect">
            <a:avLst>
              <a:gd name="adj" fmla="val 45454"/>
            </a:avLst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5-1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61925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한 사람의 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여섯 가지 자유와 한 사람의 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29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1658112" cy="3840480"/>
          </a:xfrm>
          <a:prstGeom prst="roundRect">
            <a:avLst>
              <a:gd name="adj" fmla="val 9926"/>
            </a:avLst>
          </a:prstGeom>
          <a:solidFill>
            <a:srgbClr val="1516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319272"/>
            <a:ext cx="1438656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표현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325112"/>
            <a:ext cx="1438656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C8C6EA"/>
                </a:solidFill>
                <a:latin typeface="Malgun Gothic"/>
                <a:ea typeface="Malgun Gothic"/>
              </a:rPr>
              <a:t>생각을 말할 수 있는가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35352" y="2542032"/>
            <a:ext cx="1658112" cy="3840480"/>
          </a:xfrm>
          <a:prstGeom prst="roundRect">
            <a:avLst>
              <a:gd name="adj" fmla="val 9926"/>
            </a:avLst>
          </a:prstGeom>
          <a:solidFill>
            <a:srgbClr val="1516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618232" y="2724912"/>
            <a:ext cx="502920" cy="502920"/>
          </a:xfrm>
          <a:prstGeom prst="ellipse">
            <a:avLst/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8232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5080" y="3319272"/>
            <a:ext cx="1438656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정보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5080" y="4325112"/>
            <a:ext cx="1438656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C8C6EA"/>
                </a:solidFill>
                <a:latin typeface="Malgun Gothic"/>
                <a:ea typeface="Malgun Gothic"/>
              </a:rPr>
              <a:t>다른 정보를 찾을 수 있는가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22064" y="2542032"/>
            <a:ext cx="1658112" cy="3840480"/>
          </a:xfrm>
          <a:prstGeom prst="roundRect">
            <a:avLst>
              <a:gd name="adj" fmla="val 9926"/>
            </a:avLst>
          </a:prstGeom>
          <a:solidFill>
            <a:srgbClr val="1516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504944" y="2724912"/>
            <a:ext cx="502920" cy="502920"/>
          </a:xfrm>
          <a:prstGeom prst="ellipse">
            <a:avLst/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0494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1792" y="3319272"/>
            <a:ext cx="1438656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이동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1792" y="4325112"/>
            <a:ext cx="1438656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C8C6EA"/>
                </a:solidFill>
                <a:latin typeface="Malgun Gothic"/>
                <a:ea typeface="Malgun Gothic"/>
              </a:rPr>
              <a:t>가고 싶은 곳에 갈 수 있는가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08776" y="2542032"/>
            <a:ext cx="1658112" cy="3840480"/>
          </a:xfrm>
          <a:prstGeom prst="roundRect">
            <a:avLst>
              <a:gd name="adj" fmla="val 9926"/>
            </a:avLst>
          </a:prstGeom>
          <a:solidFill>
            <a:srgbClr val="1516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391656" y="2724912"/>
            <a:ext cx="502920" cy="502920"/>
          </a:xfrm>
          <a:prstGeom prst="ellipse">
            <a:avLst/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91656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18504" y="3319272"/>
            <a:ext cx="1438656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직업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18504" y="4325112"/>
            <a:ext cx="1438656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C8C6EA"/>
                </a:solidFill>
                <a:latin typeface="Malgun Gothic"/>
                <a:ea typeface="Malgun Gothic"/>
              </a:rPr>
              <a:t>원하는 일을 선택하는가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5488" y="2542032"/>
            <a:ext cx="1658112" cy="3840480"/>
          </a:xfrm>
          <a:prstGeom prst="roundRect">
            <a:avLst>
              <a:gd name="adj" fmla="val 9926"/>
            </a:avLst>
          </a:prstGeom>
          <a:solidFill>
            <a:srgbClr val="1516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278367" y="2724912"/>
            <a:ext cx="502920" cy="502920"/>
          </a:xfrm>
          <a:prstGeom prst="ellipse">
            <a:avLst/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8367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05215" y="3319272"/>
            <a:ext cx="1438656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종교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05215" y="4325112"/>
            <a:ext cx="1438656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C8C6EA"/>
                </a:solidFill>
                <a:latin typeface="Malgun Gothic"/>
                <a:ea typeface="Malgun Gothic"/>
              </a:rPr>
              <a:t>믿음을 표현할 수 있는가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82200" y="2542032"/>
            <a:ext cx="1658112" cy="3840480"/>
          </a:xfrm>
          <a:prstGeom prst="roundRect">
            <a:avLst>
              <a:gd name="adj" fmla="val 9926"/>
            </a:avLst>
          </a:prstGeom>
          <a:solidFill>
            <a:srgbClr val="1516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165079" y="2724912"/>
            <a:ext cx="502920" cy="502920"/>
          </a:xfrm>
          <a:prstGeom prst="ellipse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65079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91927" y="3319272"/>
            <a:ext cx="1438656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양심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91927" y="4325112"/>
            <a:ext cx="1438656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C8C6EA"/>
                </a:solidFill>
                <a:latin typeface="Malgun Gothic"/>
                <a:ea typeface="Malgun Gothic"/>
              </a:rPr>
              <a:t>생각과 신념을 지킬 수 있는가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북한인권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2475A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487930" cy="402336"/>
          </a:xfrm>
          <a:prstGeom prst="roundRect">
            <a:avLst>
              <a:gd name="adj" fmla="val 45454"/>
            </a:avLst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5-1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61925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한 사람의 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한 사람의 이야기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30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11091672" cy="3246120"/>
          </a:xfrm>
          <a:prstGeom prst="roundRect">
            <a:avLst>
              <a:gd name="adj" fmla="val 3380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영상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3108960"/>
            <a:ext cx="10543032" cy="2514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C8C6EA"/>
                </a:solidFill>
                <a:latin typeface="Malgun Gothic"/>
                <a:ea typeface="Malgun Gothic"/>
              </a:rPr>
              <a:t>탈북민 증언 영상 3분(자막 포함)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79592"/>
            <a:ext cx="11091672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증언 영상 · 3분 — 개인 서사를 통해 구조를 본다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북한인권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2475A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764155" cy="402336"/>
          </a:xfrm>
          <a:prstGeom prst="roundRect">
            <a:avLst>
              <a:gd name="adj" fmla="val 45454"/>
            </a:avLst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5-2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89547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국제사회의 기록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국제사회는 어떻게 기록하고 있는가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31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15163A">
              <a:alpha val="72000"/>
            </a:srgbClr>
          </a:solidFill>
          <a:ln w="19050">
            <a:solidFill>
              <a:srgbClr val="C2475A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2679191"/>
            <a:ext cx="6126480" cy="3566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• 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2014년 유엔 북한인권조사위원회(COI)</a:t>
            </a: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 보고서: 광범위하고 조직적인 인권침해를 기록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•  유엔 총회·인권이사회는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매년 북한인권 결의</a:t>
            </a: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를 채택해 왔다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•  통일부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북한인권보고서</a:t>
            </a: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 등 국내 공식 기록도 축적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•  자료의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출처와 방법론</a:t>
            </a: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을 확인하며 읽는 태도가 필요하다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2542032"/>
            <a:ext cx="4434840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3108960"/>
            <a:ext cx="3886200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C8C6EA"/>
                </a:solidFill>
                <a:latin typeface="Malgun Gothic"/>
                <a:ea typeface="Malgun Gothic"/>
              </a:rPr>
              <a:t>UN 인권이사회 회의장 / COI 보고서 표지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북한인권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2475A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3059430" cy="402336"/>
          </a:xfrm>
          <a:prstGeom prst="roundRect">
            <a:avLst>
              <a:gd name="adj" fmla="val 45454"/>
            </a:avLst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5-3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219074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인권은 사람의 문제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인권은 공격 목록이 아니다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32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15163A">
              <a:alpha val="72000"/>
            </a:srgbClr>
          </a:solidFill>
          <a:ln w="19050">
            <a:solidFill>
              <a:srgbClr val="C2475A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2633472"/>
            <a:ext cx="182880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0" b="1">
                <a:solidFill>
                  <a:srgbClr val="C2475A"/>
                </a:solidFill>
                <a:latin typeface="Malgun Gothic"/>
                <a:ea typeface="Malgun Gothic"/>
              </a:rPr>
              <a:t>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044952"/>
            <a:ext cx="9784080" cy="2286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북한인권은 북한을 공격하기 위한 주제가 아니라 </a:t>
            </a:r>
            <a:r>
              <a:rPr sz="3000" b="1">
                <a:solidFill>
                  <a:srgbClr val="FFD479"/>
                </a:solidFill>
                <a:latin typeface="Malgun Gothic"/>
                <a:ea typeface="Malgun Gothic"/>
              </a:rPr>
              <a:t>한 사람이 사람답게 살아갈 수 있는가</a:t>
            </a: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에 관한 문제입니다.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468112"/>
            <a:ext cx="978408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C8C6EA"/>
                </a:solidFill>
                <a:latin typeface="Malgun Gothic"/>
                <a:ea typeface="Malgun Gothic"/>
              </a:rPr>
              <a:t>— REBUILDER 교육성과 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6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안보와 평화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평화는 충돌이 없는 상태인가, 지켜 내는 질서인가?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4A6FB5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6-1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핵과 억제·대화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6-2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주변국의 이해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977639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977639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6-3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8620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평화의 정의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8분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O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안보와 평화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4A6FB5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678430" cy="402336"/>
          </a:xfrm>
          <a:prstGeom prst="roundRect">
            <a:avLst>
              <a:gd name="adj" fmla="val 45454"/>
            </a:avLst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6-1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80975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핵과 억제·대화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안보 문제의 네 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34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101B2C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위협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핵·미사일 능력과 군사적 긴장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78708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101B2C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61588" y="2724912"/>
            <a:ext cx="502920" cy="502920"/>
          </a:xfrm>
          <a:prstGeom prst="ellipse">
            <a:avLst/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1588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88436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억제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88436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도발을 막는 방위 태세와 동맹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08776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101B2C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91656" y="2724912"/>
            <a:ext cx="502920" cy="502920"/>
          </a:xfrm>
          <a:prstGeom prst="ellipse">
            <a:avLst/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1656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4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대화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4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긴장 완화와 교류 채널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38844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101B2C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21724" y="2724912"/>
            <a:ext cx="502920" cy="502920"/>
          </a:xfrm>
          <a:prstGeom prst="ellipse">
            <a:avLst/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2172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8572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외교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8572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주변국·국제기구와의 조율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22580"/>
            </a:avLst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60720"/>
            <a:ext cx="11091672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억제와 대화는 </a:t>
            </a: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양자택일</a:t>
            </a: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이 아니라 </a:t>
            </a: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함께 설계</a:t>
            </a: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할 대상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O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안보와 평화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4A6FB5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573655" cy="402336"/>
          </a:xfrm>
          <a:prstGeom prst="roundRect">
            <a:avLst>
              <a:gd name="adj" fmla="val 45454"/>
            </a:avLst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6-2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70497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주변국의 이해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주변국의 서로 다른 이해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35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48640" y="2542032"/>
          <a:ext cx="11091671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611"/>
                <a:gridCol w="4621530"/>
                <a:gridCol w="4621530"/>
              </a:tblGrid>
              <a:tr h="75895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국가</a:t>
                      </a:r>
                    </a:p>
                  </a:txBody>
                  <a:tcPr marL="91440" marR="91440" marT="27432" marB="27432" anchor="ctr">
                    <a:solidFill>
                      <a:srgbClr val="4A6F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한반도에서 중시하는 것</a:t>
                      </a:r>
                    </a:p>
                  </a:txBody>
                  <a:tcPr marL="91440" marR="91440" marT="27432" marB="27432" anchor="ctr">
                    <a:solidFill>
                      <a:srgbClr val="4A6F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통일 논의에서의 변수</a:t>
                      </a:r>
                    </a:p>
                  </a:txBody>
                  <a:tcPr marL="91440" marR="91440" marT="27432" marB="27432" anchor="ctr">
                    <a:solidFill>
                      <a:srgbClr val="4A6FB5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미국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동맹 · 핵 비확산 · 지역 안정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동맹 구조 · 주한미군 문제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중국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한반도 안정 · 완충 · 경제 이익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통일 후 안보 지형 우려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일본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지역 안보 · 납치 문제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안보 · 역사 문제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러시아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영향력 유지 · 지역 협력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북러 관계 · 지역 구도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O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안보와 평화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4A6FB5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383155" cy="402336"/>
          </a:xfrm>
          <a:prstGeom prst="roundRect">
            <a:avLst>
              <a:gd name="adj" fmla="val 45454"/>
            </a:avLst>
          </a:prstGeom>
          <a:solidFill>
            <a:srgbClr val="4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6-3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51447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평화의 정의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평화란 무엇인가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36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101B2C">
              <a:alpha val="84000"/>
            </a:srgbClr>
          </a:solidFill>
          <a:ln w="19050">
            <a:solidFill>
              <a:srgbClr val="4A6FB5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2633472"/>
            <a:ext cx="182880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0" b="1">
                <a:solidFill>
                  <a:srgbClr val="4A6FB5"/>
                </a:solidFill>
                <a:latin typeface="Malgun Gothic"/>
                <a:ea typeface="Malgun Gothic"/>
              </a:rPr>
              <a:t>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044952"/>
            <a:ext cx="9784080" cy="2286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AF0F7"/>
                </a:solidFill>
                <a:latin typeface="Malgun Gothic"/>
                <a:ea typeface="Malgun Gothic"/>
              </a:rPr>
              <a:t>평화는 </a:t>
            </a:r>
            <a:r>
              <a:rPr sz="3000" b="1">
                <a:solidFill>
                  <a:srgbClr val="FFD479"/>
                </a:solidFill>
                <a:latin typeface="Malgun Gothic"/>
                <a:ea typeface="Malgun Gothic"/>
              </a:rPr>
              <a:t>충돌이 없는 상태</a:t>
            </a:r>
            <a:r>
              <a:rPr sz="3000" b="1">
                <a:solidFill>
                  <a:srgbClr val="EAF0F7"/>
                </a:solidFill>
                <a:latin typeface="Malgun Gothic"/>
                <a:ea typeface="Malgun Gothic"/>
              </a:rPr>
              <a:t>가 아니라 </a:t>
            </a:r>
            <a:r>
              <a:rPr sz="3000" b="1">
                <a:solidFill>
                  <a:srgbClr val="FFD479"/>
                </a:solidFill>
                <a:latin typeface="Malgun Gothic"/>
                <a:ea typeface="Malgun Gothic"/>
              </a:rPr>
              <a:t>생명과 자유를 지키면서 전쟁을 억제하는 질서</a:t>
            </a:r>
            <a:r>
              <a:rPr sz="3000" b="1">
                <a:solidFill>
                  <a:srgbClr val="EAF0F7"/>
                </a:solidFill>
                <a:latin typeface="Malgun Gothic"/>
                <a:ea typeface="Malgun Gothic"/>
              </a:rPr>
              <a:t>입니다.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7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통일 경로와 통일 이후의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어떤 통일을 어떤 순서로 준비해야 하는가?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A8841F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731520"/>
          </a:xfrm>
          <a:prstGeom prst="roundRect">
            <a:avLst>
              <a:gd name="adj" fmla="val 18749"/>
            </a:avLst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7-1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비용과 기회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743200"/>
            <a:ext cx="868680" cy="731520"/>
          </a:xfrm>
          <a:prstGeom prst="roundRect">
            <a:avLst>
              <a:gd name="adj" fmla="val 18749"/>
            </a:avLst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743200"/>
            <a:ext cx="86868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7-2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651760"/>
            <a:ext cx="347472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가능한 경로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703320"/>
            <a:ext cx="868680" cy="731520"/>
          </a:xfrm>
          <a:prstGeom prst="roundRect">
            <a:avLst>
              <a:gd name="adj" fmla="val 18749"/>
            </a:avLst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703320"/>
            <a:ext cx="86868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7-3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611880"/>
            <a:ext cx="347472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통일 이후 우선순위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663440"/>
            <a:ext cx="868680" cy="731520"/>
          </a:xfrm>
          <a:prstGeom prst="roundRect">
            <a:avLst>
              <a:gd name="adj" fmla="val 18749"/>
            </a:avLst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4663440"/>
            <a:ext cx="86868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7-4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572000"/>
            <a:ext cx="347472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공동결정 주체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14분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통일 경로와 통일 이후의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A8841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383155" cy="402336"/>
          </a:xfrm>
          <a:prstGeom prst="roundRect">
            <a:avLst>
              <a:gd name="adj" fmla="val 45454"/>
            </a:avLst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7-1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51447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비용과 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분단 비용 vs 통일 비용, 그리고 기회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38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C2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비용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분단 비용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: 군사·외교·이산·기회 손실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통일 비용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: 인프라·복지·제도 통합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91071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1071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1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기회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1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시장·노동력·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물류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의 확장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이산가족·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교류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 회복, 새로운 직업</a:t>
            </a:r>
          </a:p>
        </p:txBody>
      </p:sp>
      <p:sp>
        <p:nvSpPr>
          <p:cNvPr id="38" name="Oval 37"/>
          <p:cNvSpPr/>
          <p:nvPr/>
        </p:nvSpPr>
        <p:spPr>
          <a:xfrm>
            <a:off x="5824728" y="418795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24728" y="4187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algun Gothic"/>
                <a:ea typeface="Malgun Gothic"/>
              </a:rPr>
              <a:t>vs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통일 경로와 통일 이후의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A8841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383155" cy="402336"/>
          </a:xfrm>
          <a:prstGeom prst="roundRect">
            <a:avLst>
              <a:gd name="adj" fmla="val 45454"/>
            </a:avLst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7-1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51447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비용과 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독일 통일에서 배울 것과 다른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39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11091672" cy="3246120"/>
          </a:xfrm>
          <a:prstGeom prst="roundRect">
            <a:avLst>
              <a:gd name="adj" fmla="val 3380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3108960"/>
            <a:ext cx="10543032" cy="2514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9FB0C4"/>
                </a:solidFill>
                <a:latin typeface="Malgun Gothic"/>
                <a:ea typeface="Malgun Gothic"/>
              </a:rPr>
              <a:t>베를린 장벽 개방(1989) 또는 통일 기념 장면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79592"/>
            <a:ext cx="11091672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EAF0F7"/>
                </a:solidFill>
                <a:latin typeface="Malgun Gothic"/>
                <a:ea typeface="Malgun Gothic"/>
              </a:rPr>
              <a:t>1990.10.3 독일 통일 — 닮은 점과 다른 점을 함께 본다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통일 경로와 통일 이후의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A8841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383155" cy="402336"/>
          </a:xfrm>
          <a:prstGeom prst="roundRect">
            <a:avLst>
              <a:gd name="adj" fmla="val 45454"/>
            </a:avLst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7-2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51447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가능한 경로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통일 경로를 평가하는 기준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40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48640" y="2542032"/>
          <a:ext cx="1109167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5088"/>
                <a:gridCol w="4378291"/>
                <a:gridCol w="4378291"/>
              </a:tblGrid>
              <a:tr h="94869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경로 유형</a:t>
                      </a:r>
                    </a:p>
                  </a:txBody>
                  <a:tcPr marL="91440" marR="91440" marT="27432" marB="27432" anchor="ctr">
                    <a:solidFill>
                      <a:srgbClr val="A884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기대되는 점</a:t>
                      </a:r>
                    </a:p>
                  </a:txBody>
                  <a:tcPr marL="91440" marR="91440" marT="27432" marB="27432" anchor="ctr">
                    <a:solidFill>
                      <a:srgbClr val="A884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우려되는 점</a:t>
                      </a:r>
                    </a:p>
                  </a:txBody>
                  <a:tcPr marL="91440" marR="91440" marT="27432" marB="27432" anchor="ctr">
                    <a:solidFill>
                      <a:srgbClr val="A8841F"/>
                    </a:solidFill>
                  </a:tcPr>
                </a:tc>
              </a:tr>
              <a:tr h="94869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합의에 의한 단계적 통일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충돌 위험 낮음, 점진적 통합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합의 도출 어려움, 시간 소요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</a:tr>
              <a:tr h="94869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급변 상황에 대한 대응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인도적 위기 대응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혼란·안전·정당성 문제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</a:tr>
              <a:tr h="94869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장기 공존·교류 확대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신뢰 축적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AF0F7"/>
                          </a:solidFill>
                          <a:latin typeface="Malgun Gothic"/>
                          <a:ea typeface="Malgun Gothic"/>
                        </a:rPr>
                        <a:t>근본 문제 장기 미해결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통일 경로와 통일 이후의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A8841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3059430" cy="402336"/>
          </a:xfrm>
          <a:prstGeom prst="roundRect">
            <a:avLst>
              <a:gd name="adj" fmla="val 45454"/>
            </a:avLst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7-3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219074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통일 이후 우선순위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통일 이후, 무엇부터 세울 것인가? 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41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법·헌정질서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공정한 규칙의 토대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12694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95574" y="2724912"/>
            <a:ext cx="502920" cy="502920"/>
          </a:xfrm>
          <a:prstGeom prst="ellipse">
            <a:avLst/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557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2422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치안·행정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2422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안전과 공공서비스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76748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59628" y="2724912"/>
            <a:ext cx="502920" cy="502920"/>
          </a:xfrm>
          <a:prstGeom prst="ellipse">
            <a:avLst/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9628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86476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생계·경제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6476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일자리와 시장 안정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40803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523683" y="2724912"/>
            <a:ext cx="502920" cy="502920"/>
          </a:xfrm>
          <a:prstGeom prst="ellipse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23683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0531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재산권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0531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소유권 분쟁의 해결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4857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787737" y="2724912"/>
            <a:ext cx="502920" cy="502920"/>
          </a:xfrm>
          <a:prstGeom prst="ellipse">
            <a:avLst/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7737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14585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교육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14585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학교와 교육 체계의 연계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통일 경로와 통일 이후의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A8841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3059430" cy="402336"/>
          </a:xfrm>
          <a:prstGeom prst="roundRect">
            <a:avLst>
              <a:gd name="adj" fmla="val 45454"/>
            </a:avLst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7-3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219074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통일 이후 우선순위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통일 이후, 무엇부터 세울 것인가? 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42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인권침해·과거의 상처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진실·치유·정의의 방법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12694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95574" y="2724912"/>
            <a:ext cx="502920" cy="502920"/>
          </a:xfrm>
          <a:prstGeom prst="ellipse">
            <a:avLst/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557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2422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종교의 자유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2422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양심과 신앙의 보장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76748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59628" y="2724912"/>
            <a:ext cx="502920" cy="502920"/>
          </a:xfrm>
          <a:prstGeom prst="ellipse">
            <a:avLst/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9628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86476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지역사회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6476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이웃·공동체의 재건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40803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523683" y="2724912"/>
            <a:ext cx="502920" cy="502920"/>
          </a:xfrm>
          <a:prstGeom prst="ellipse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23683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0531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국제협력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0531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지원·조율·안보 보장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4857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787737" y="2724912"/>
            <a:ext cx="502920" cy="502920"/>
          </a:xfrm>
          <a:prstGeom prst="ellipse">
            <a:avLst/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7737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14585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EAF0F7"/>
                </a:solidFill>
                <a:latin typeface="Malgun Gothic"/>
                <a:ea typeface="Malgun Gothic"/>
              </a:rPr>
              <a:t>교회의 역할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14585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9FB0C4"/>
                </a:solidFill>
                <a:latin typeface="Malgun Gothic"/>
                <a:ea typeface="Malgun Gothic"/>
              </a:rPr>
              <a:t>섬김·화해·돌봄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통일 경로와 통일 이후의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A8841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3059430" cy="402336"/>
          </a:xfrm>
          <a:prstGeom prst="roundRect">
            <a:avLst>
              <a:gd name="adj" fmla="val 45454"/>
            </a:avLst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7-3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219074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통일 이후 우선순위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우선순위 랭킹 게임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43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142033">
              <a:alpha val="86000"/>
            </a:srgbClr>
          </a:solidFill>
          <a:ln w="19050">
            <a:solidFill>
              <a:srgbClr val="A8841F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2724912"/>
            <a:ext cx="1188720" cy="420624"/>
          </a:xfrm>
          <a:prstGeom prst="roundRect">
            <a:avLst>
              <a:gd name="adj" fmla="val 39130"/>
            </a:avLst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2724912"/>
            <a:ext cx="118872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2724912"/>
            <a:ext cx="274320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9FB0C4"/>
                </a:solidFill>
                <a:latin typeface="Malgun Gothic"/>
                <a:ea typeface="Malgun Gothic"/>
              </a:rPr>
              <a:t>⏱ 6분 · 카드 10장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273552"/>
            <a:ext cx="6035040" cy="2971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D479"/>
                </a:solidFill>
                <a:latin typeface="Malgun Gothic"/>
                <a:ea typeface="Malgun Gothic"/>
              </a:rPr>
              <a:t>1.</a:t>
            </a:r>
            <a:r>
              <a:rPr sz="1600" b="0">
                <a:solidFill>
                  <a:srgbClr val="EAF0F7"/>
                </a:solidFill>
                <a:latin typeface="Malgun Gothic"/>
                <a:ea typeface="Malgun Gothic"/>
              </a:rPr>
              <a:t> 10개 카드 중 </a:t>
            </a:r>
            <a:r>
              <a:rPr sz="1600" b="1">
                <a:solidFill>
                  <a:srgbClr val="FFD479"/>
                </a:solidFill>
                <a:latin typeface="Malgun Gothic"/>
                <a:ea typeface="Malgun Gothic"/>
              </a:rPr>
              <a:t>통일 직후 1년</a:t>
            </a:r>
            <a:r>
              <a:rPr sz="1600" b="0">
                <a:solidFill>
                  <a:srgbClr val="EAF0F7"/>
                </a:solidFill>
                <a:latin typeface="Malgun Gothic"/>
                <a:ea typeface="Malgun Gothic"/>
              </a:rPr>
              <a:t> 안에 가장 시급한 </a:t>
            </a:r>
            <a:r>
              <a:rPr sz="1600" b="1">
                <a:solidFill>
                  <a:srgbClr val="FFD479"/>
                </a:solidFill>
                <a:latin typeface="Malgun Gothic"/>
                <a:ea typeface="Malgun Gothic"/>
              </a:rPr>
              <a:t>5개</a:t>
            </a:r>
            <a:r>
              <a:rPr sz="1600" b="0">
                <a:solidFill>
                  <a:srgbClr val="EAF0F7"/>
                </a:solidFill>
                <a:latin typeface="Malgun Gothic"/>
                <a:ea typeface="Malgun Gothic"/>
              </a:rPr>
              <a:t> 선택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D479"/>
                </a:solidFill>
                <a:latin typeface="Malgun Gothic"/>
                <a:ea typeface="Malgun Gothic"/>
              </a:rPr>
              <a:t>2.</a:t>
            </a:r>
            <a:r>
              <a:rPr sz="1600" b="0">
                <a:solidFill>
                  <a:srgbClr val="EAF0F7"/>
                </a:solidFill>
                <a:latin typeface="Malgun Gothic"/>
                <a:ea typeface="Malgun Gothic"/>
              </a:rPr>
              <a:t> 5개의 </a:t>
            </a:r>
            <a:r>
              <a:rPr sz="1600" b="1">
                <a:solidFill>
                  <a:srgbClr val="FFD479"/>
                </a:solidFill>
                <a:latin typeface="Malgun Gothic"/>
                <a:ea typeface="Malgun Gothic"/>
              </a:rPr>
              <a:t>순서</a:t>
            </a:r>
            <a:r>
              <a:rPr sz="1600" b="0">
                <a:solidFill>
                  <a:srgbClr val="EAF0F7"/>
                </a:solidFill>
                <a:latin typeface="Malgun Gothic"/>
                <a:ea typeface="Malgun Gothic"/>
              </a:rPr>
              <a:t>와 이유를 한 줄씩 적기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D479"/>
                </a:solidFill>
                <a:latin typeface="Malgun Gothic"/>
                <a:ea typeface="Malgun Gothic"/>
              </a:rPr>
              <a:t>3.</a:t>
            </a:r>
            <a:r>
              <a:rPr sz="1600" b="0">
                <a:solidFill>
                  <a:srgbClr val="EAF0F7"/>
                </a:solidFill>
                <a:latin typeface="Malgun Gothic"/>
                <a:ea typeface="Malgun Gothic"/>
              </a:rPr>
              <a:t> 다른 모둠과 비교하고 </a:t>
            </a:r>
            <a:r>
              <a:rPr sz="1600" b="1">
                <a:solidFill>
                  <a:srgbClr val="FFD479"/>
                </a:solidFill>
                <a:latin typeface="Malgun Gothic"/>
                <a:ea typeface="Malgun Gothic"/>
              </a:rPr>
              <a:t>차이의 이유</a:t>
            </a:r>
            <a:r>
              <a:rPr sz="1600" b="0">
                <a:solidFill>
                  <a:srgbClr val="EAF0F7"/>
                </a:solidFill>
                <a:latin typeface="Malgun Gothic"/>
                <a:ea typeface="Malgun Gothic"/>
              </a:rPr>
              <a:t> 토론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2542032"/>
            <a:ext cx="4416552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3108960"/>
            <a:ext cx="3867912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9FB0C4"/>
                </a:solidFill>
                <a:latin typeface="Malgun Gothic"/>
                <a:ea typeface="Malgun Gothic"/>
              </a:rPr>
              <a:t>우선순위 카드 10종 인쇄물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통일 경로와 통일 이후의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A8841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573655" cy="402336"/>
          </a:xfrm>
          <a:prstGeom prst="roundRect">
            <a:avLst>
              <a:gd name="adj" fmla="val 45454"/>
            </a:avLst>
          </a:prstGeom>
          <a:solidFill>
            <a:srgbClr val="A8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7-4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70497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공동결정 주체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AF0F7"/>
                </a:solidFill>
                <a:latin typeface="Malgun Gothic"/>
                <a:ea typeface="Malgun Gothic"/>
              </a:rPr>
              <a:t>북한 주민은 관리 대상이 아니다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0C4"/>
                </a:solidFill>
                <a:latin typeface="Malgun Gothic"/>
                <a:ea typeface="Malgun Gothic"/>
              </a:rPr>
              <a:t>44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통합의 대상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돌봄·지원을 받는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수혜자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결정은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외부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가 한다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91071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42033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1071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1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공동결정 주체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1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제도·법·지역사회를 함께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설계하는 시민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•  결정 과정에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참여</a:t>
            </a:r>
            <a:r>
              <a:rPr sz="2000" b="0">
                <a:solidFill>
                  <a:srgbClr val="EAF0F7"/>
                </a:solidFill>
                <a:latin typeface="Malgun Gothic"/>
                <a:ea typeface="Malgun Gothic"/>
              </a:rPr>
              <a:t>한다</a:t>
            </a:r>
          </a:p>
        </p:txBody>
      </p:sp>
      <p:sp>
        <p:nvSpPr>
          <p:cNvPr id="38" name="Oval 37"/>
          <p:cNvSpPr/>
          <p:nvPr/>
        </p:nvSpPr>
        <p:spPr>
          <a:xfrm>
            <a:off x="5824728" y="418795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24728" y="4187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algun Gothic"/>
                <a:ea typeface="Malgun Gothic"/>
              </a:rPr>
              <a:t>→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8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나의 전공과 소명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나의 전공은 미래 한반도의 회복과 어떻게 연결되는가?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5C7A8A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8-1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전공과 한반도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8-2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미래설계안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977639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977639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8-3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8620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결단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10분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나의 전공과 소명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5C7A8A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573655" cy="402336"/>
          </a:xfrm>
          <a:prstGeom prst="roundRect">
            <a:avLst>
              <a:gd name="adj" fmla="val 45454"/>
            </a:avLst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8-1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704975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전공과 한반도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나의 전공은 한반도와 어떻게 만나는가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46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48640" y="2542032"/>
          <a:ext cx="11091670" cy="379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3202"/>
                <a:gridCol w="4670177"/>
                <a:gridCol w="4378291"/>
              </a:tblGrid>
              <a:tr h="54210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전공·직업</a:t>
                      </a:r>
                    </a:p>
                  </a:txBody>
                  <a:tcPr marL="91440" marR="91440" marT="27432" marB="27432" anchor="ctr">
                    <a:solidFill>
                      <a:srgbClr val="5C7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통일 이후 필요한 질문</a:t>
                      </a:r>
                    </a:p>
                  </a:txBody>
                  <a:tcPr marL="91440" marR="91440" marT="27432" marB="27432" anchor="ctr">
                    <a:solidFill>
                      <a:srgbClr val="5C7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내가 지금 준비할 일</a:t>
                      </a:r>
                    </a:p>
                  </a:txBody>
                  <a:tcPr marL="91440" marR="91440" marT="27432" marB="27432" anchor="ctr">
                    <a:solidFill>
                      <a:srgbClr val="5C7A8A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의사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의료 체계와 공공보건 연계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의학·언어·소통 훈련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교사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교육과정·학력 인정 통합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교육학 · 이해와 공감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법률가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재산권·헌정질서·과거사 처리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법학 · 인권 이해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기업가·경제인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일자리·시장·공급망 재건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경영 · 경제 이해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공학자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인프라와 에너지·환경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공학 · 지속가능성</a:t>
                      </a:r>
                    </a:p>
                  </a:txBody>
                  <a:tcPr marL="91440" marR="91440" marT="27432" marB="27432" anchor="ctr">
                    <a:solidFill>
                      <a:srgbClr val="22324A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예술가·목회자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공동체 회복과 위로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창작 · 상담 · 신앙적 성찰</a:t>
                      </a:r>
                    </a:p>
                  </a:txBody>
                  <a:tcPr marL="91440" marR="91440" marT="27432" marB="27432" anchor="ctr">
                    <a:solidFill>
                      <a:srgbClr val="1B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나의 전공과 소명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5C7A8A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2278380" cy="402336"/>
          </a:xfrm>
          <a:prstGeom prst="roundRect">
            <a:avLst>
              <a:gd name="adj" fmla="val 45454"/>
            </a:avLst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8-2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14097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미래설계안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한반도 미래설계안과 소명 연결문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47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0C1A38">
              <a:alpha val="66000"/>
            </a:srgbClr>
          </a:solidFill>
          <a:ln w="19050">
            <a:solidFill>
              <a:srgbClr val="5C7A8A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2724912"/>
            <a:ext cx="1188720" cy="420624"/>
          </a:xfrm>
          <a:prstGeom prst="roundRect">
            <a:avLst>
              <a:gd name="adj" fmla="val 39130"/>
            </a:avLst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2724912"/>
            <a:ext cx="118872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2724912"/>
            <a:ext cx="274320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3D9B0"/>
                </a:solidFill>
                <a:latin typeface="Malgun Gothic"/>
                <a:ea typeface="Malgun Gothic"/>
              </a:rPr>
              <a:t>⏱ 10분 · 설계안 양식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273552"/>
            <a:ext cx="6035040" cy="2971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D479"/>
                </a:solidFill>
                <a:latin typeface="Malgun Gothic"/>
                <a:ea typeface="Malgun Gothic"/>
              </a:rPr>
              <a:t>1.</a:t>
            </a: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 </a:t>
            </a:r>
            <a:r>
              <a:rPr sz="1600" b="1">
                <a:solidFill>
                  <a:srgbClr val="FFD479"/>
                </a:solidFill>
                <a:latin typeface="Malgun Gothic"/>
                <a:ea typeface="Malgun Gothic"/>
              </a:rPr>
              <a:t>미래설계안</a:t>
            </a: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 한 장: 문제 · 설계 · 반론 · 위험 · 북한 주민의 자리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D479"/>
                </a:solidFill>
                <a:latin typeface="Malgun Gothic"/>
                <a:ea typeface="Malgun Gothic"/>
              </a:rPr>
              <a:t>2.</a:t>
            </a: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 </a:t>
            </a:r>
            <a:r>
              <a:rPr sz="1600" b="1">
                <a:solidFill>
                  <a:srgbClr val="FFD479"/>
                </a:solidFill>
                <a:latin typeface="Malgun Gothic"/>
                <a:ea typeface="Malgun Gothic"/>
              </a:rPr>
              <a:t>소명 연결문</a:t>
            </a: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 세 문장: 나의 전공 · 내가 맡을 일 · 오늘 시작할 한 가지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D479"/>
                </a:solidFill>
                <a:latin typeface="Malgun Gothic"/>
                <a:ea typeface="Malgun Gothic"/>
              </a:rPr>
              <a:t>3.</a:t>
            </a: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 짝과 교환해 </a:t>
            </a:r>
            <a:r>
              <a:rPr sz="1600" b="1">
                <a:solidFill>
                  <a:srgbClr val="FFD479"/>
                </a:solidFill>
                <a:latin typeface="Malgun Gothic"/>
                <a:ea typeface="Malgun Gothic"/>
              </a:rPr>
              <a:t>반론 한 가지</a:t>
            </a: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 받기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2542032"/>
            <a:ext cx="4416552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3108960"/>
            <a:ext cx="3867912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F3D9B0"/>
                </a:solidFill>
                <a:latin typeface="Malgun Gothic"/>
                <a:ea typeface="Malgun Gothic"/>
              </a:rPr>
              <a:t>미래설계안 양식(A4 1장) 예시 화면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나의 전공과 소명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5C7A8A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1706880" cy="402336"/>
          </a:xfrm>
          <a:prstGeom prst="roundRect">
            <a:avLst>
              <a:gd name="adj" fmla="val 45454"/>
            </a:avLst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8-3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8382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결단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통일이 내 시대에 온다면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48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0C1A38">
              <a:alpha val="66000"/>
            </a:srgbClr>
          </a:solidFill>
          <a:ln w="19050">
            <a:solidFill>
              <a:srgbClr val="5C7A8A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2770632"/>
            <a:ext cx="1920240" cy="457200"/>
          </a:xfrm>
          <a:prstGeom prst="roundRect">
            <a:avLst>
              <a:gd name="adj" fmla="val 40000"/>
            </a:avLst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2770632"/>
            <a:ext cx="19202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마지막 질문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364991"/>
            <a:ext cx="10515600" cy="1600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통일이 내 시대에 온다면 </a:t>
            </a:r>
            <a:r>
              <a:rPr sz="3000" b="1">
                <a:solidFill>
                  <a:srgbClr val="FFD479"/>
                </a:solidFill>
                <a:latin typeface="Malgun Gothic"/>
                <a:ea typeface="Malgun Gothic"/>
              </a:rPr>
              <a:t>나는 무엇을 할 수 있는가?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102352"/>
            <a:ext cx="1051560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F3D9B0"/>
                </a:solidFill>
                <a:latin typeface="Malgun Gothic"/>
                <a:ea typeface="Malgun Gothic"/>
              </a:rPr>
              <a:t>그때 나는 어떤 사람이 되어 있어야 하는가?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나의 전공과 소명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5C7A8A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1706880" cy="402336"/>
          </a:xfrm>
          <a:prstGeom prst="roundRect">
            <a:avLst>
              <a:gd name="adj" fmla="val 45454"/>
            </a:avLst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8-3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8382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결단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수업 후 사고의 변화 점검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49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사실을 알고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F3D9B0"/>
                </a:solidFill>
                <a:latin typeface="Malgun Gothic"/>
                <a:ea typeface="Malgun Gothic"/>
              </a:rPr>
              <a:t>분단의 원인과 구조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12694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95574" y="2724912"/>
            <a:ext cx="502920" cy="502920"/>
          </a:xfrm>
          <a:prstGeom prst="ellipse">
            <a:avLst/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557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2422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사람을 보고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2422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F3D9B0"/>
                </a:solidFill>
                <a:latin typeface="Malgun Gothic"/>
                <a:ea typeface="Malgun Gothic"/>
              </a:rPr>
              <a:t>정권과 주민의 구분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76748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59628" y="2724912"/>
            <a:ext cx="502920" cy="502920"/>
          </a:xfrm>
          <a:prstGeom prst="ellipse">
            <a:avLst/>
          </a:prstGeom>
          <a:solidFill>
            <a:srgbClr val="7B5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9628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86476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구조를 이해하고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6476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F3D9B0"/>
                </a:solidFill>
                <a:latin typeface="Malgun Gothic"/>
                <a:ea typeface="Malgun Gothic"/>
              </a:rPr>
              <a:t>체제·인권·안보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40803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523683" y="2724912"/>
            <a:ext cx="502920" cy="502920"/>
          </a:xfrm>
          <a:prstGeom prst="ellipse">
            <a:avLst/>
          </a:prstGeom>
          <a:solidFill>
            <a:srgbClr val="C0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23683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0531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책임을 판단하고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0531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F3D9B0"/>
                </a:solidFill>
                <a:latin typeface="Malgun Gothic"/>
                <a:ea typeface="Malgun Gothic"/>
              </a:rPr>
              <a:t>통일의 비용과 조건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4857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787737" y="2724912"/>
            <a:ext cx="502920" cy="502920"/>
          </a:xfrm>
          <a:prstGeom prst="ellipse">
            <a:avLst/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7737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14585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역할을 연결한다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14585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F3D9B0"/>
                </a:solidFill>
                <a:latin typeface="Malgun Gothic"/>
                <a:ea typeface="Malgun Gothic"/>
              </a:rPr>
              <a:t>나의 전공과 소명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대주제 · 나의 전공과 소명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43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743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121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5C7A8A"/>
                </a:solidFill>
                <a:latin typeface="Malgun Gothic"/>
                <a:ea typeface="Malgun Gothic"/>
              </a:rPr>
              <a:t>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097280"/>
            <a:ext cx="1706880" cy="402336"/>
          </a:xfrm>
          <a:prstGeom prst="roundRect">
            <a:avLst>
              <a:gd name="adj" fmla="val 45454"/>
            </a:avLst>
          </a:prstGeom>
          <a:solidFill>
            <a:srgbClr val="5C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8-3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1097280"/>
            <a:ext cx="8382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결단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마지막 문장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0C1A38">
              <a:alpha val="66000"/>
            </a:srgbClr>
          </a:solidFill>
          <a:ln w="19050">
            <a:solidFill>
              <a:srgbClr val="5C7A8A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2633472"/>
            <a:ext cx="182880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0" b="1">
                <a:solidFill>
                  <a:srgbClr val="5C7A8A"/>
                </a:solidFill>
                <a:latin typeface="Malgun Gothic"/>
                <a:ea typeface="Malgun Gothic"/>
              </a:rPr>
              <a:t>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044952"/>
            <a:ext cx="9784080" cy="2286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통일이 언제 올지는 우리가 결정할 수 없지만,
그때 </a:t>
            </a:r>
            <a:r>
              <a:rPr sz="3000" b="1">
                <a:solidFill>
                  <a:srgbClr val="FFD479"/>
                </a:solidFill>
                <a:latin typeface="Malgun Gothic"/>
                <a:ea typeface="Malgun Gothic"/>
              </a:rPr>
              <a:t>준비된 사람</a:t>
            </a: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이 될지는 </a:t>
            </a:r>
            <a:r>
              <a:rPr sz="3000" b="1">
                <a:solidFill>
                  <a:srgbClr val="FFD479"/>
                </a:solidFill>
                <a:latin typeface="Malgun Gothic"/>
                <a:ea typeface="Malgun Gothic"/>
              </a:rPr>
              <a:t>오늘 결정</a:t>
            </a: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할 수 있습니다.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71600" y="1463040"/>
            <a:ext cx="9418320" cy="3657600"/>
          </a:xfrm>
          <a:prstGeom prst="roundRect">
            <a:avLst>
              <a:gd name="adj" fmla="val 8750"/>
            </a:avLst>
          </a:prstGeom>
          <a:solidFill>
            <a:srgbClr val="0B1426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8869680" cy="1737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FFD479"/>
                </a:solidFill>
                <a:latin typeface="Malgun Gothic"/>
                <a:ea typeface="Malgun Gothic"/>
              </a:rPr>
              <a:t>감사</a:t>
            </a: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566160"/>
            <a:ext cx="8869680" cy="1280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F3D9B0"/>
                </a:solidFill>
                <a:latin typeface="Malgun Gothic"/>
                <a:ea typeface="Malgun Gothic"/>
              </a:rPr>
              <a:t>REBUILDER 통일교육 · SEE-IT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F3D9B0"/>
                </a:solidFill>
                <a:latin typeface="Malgun Gothic"/>
                <a:ea typeface="Malgun Gothic"/>
              </a:rPr>
              <a:t>자유와 사람을 위한 통일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REBUILDER 통일교육  ·  고등학생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